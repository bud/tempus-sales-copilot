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645920"/>
            <a:ext cx="640080" cy="6400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673352"/>
            <a:ext cx="548640" cy="548640"/>
          </a:xfrm>
          <a:prstGeom prst="rect">
            <a:avLst/>
          </a:prstGeom>
          <a:noFill/>
        </p:spPr>
        <p:txBody>
          <a:bodyPr wrap="square">
            <a:spAutoFit/>
          </a:bodyPr>
          <a:lstStyle/>
          <a:p>
            <a:pPr algn="ctr"/>
            <a:r>
              <a:rPr sz="2400" b="0" i="0">
                <a:solidFill>
                  <a:srgbClr val="FFFFFF"/>
                </a:solidFill>
              </a:rPr>
              <a:t>🔬</a:t>
            </a:r>
          </a:p>
        </p:txBody>
      </p:sp>
      <p:sp>
        <p:nvSpPr>
          <p:cNvPr id="7" name="TextBox 6"/>
          <p:cNvSpPr txBox="1"/>
          <p:nvPr/>
        </p:nvSpPr>
        <p:spPr>
          <a:xfrm>
            <a:off x="1097280" y="2423160"/>
            <a:ext cx="9144000" cy="731520"/>
          </a:xfrm>
          <a:prstGeom prst="rect">
            <a:avLst/>
          </a:prstGeom>
          <a:noFill/>
        </p:spPr>
        <p:txBody>
          <a:bodyPr wrap="square">
            <a:spAutoFit/>
          </a:bodyPr>
          <a:lstStyle/>
          <a:p>
            <a:pPr algn="l"/>
            <a:r>
              <a:rPr sz="4200" b="1" i="0">
                <a:solidFill>
                  <a:srgbClr val="FFFFFF"/>
                </a:solidFill>
              </a:rPr>
              <a:t>TEMPUS SALES COPILOT</a:t>
            </a:r>
          </a:p>
        </p:txBody>
      </p:sp>
      <p:sp>
        <p:nvSpPr>
          <p:cNvPr id="8" name="TextBox 7"/>
          <p:cNvSpPr txBox="1"/>
          <p:nvPr/>
        </p:nvSpPr>
        <p:spPr>
          <a:xfrm>
            <a:off x="1097280" y="3200400"/>
            <a:ext cx="9144000" cy="502920"/>
          </a:xfrm>
          <a:prstGeom prst="rect">
            <a:avLst/>
          </a:prstGeom>
          <a:noFill/>
        </p:spPr>
        <p:txBody>
          <a:bodyPr wrap="square">
            <a:spAutoFit/>
          </a:bodyPr>
          <a:lstStyle/>
          <a:p>
            <a:pPr algn="l"/>
            <a:r>
              <a:rPr sz="2200" b="0" i="1">
                <a:solidFill>
                  <a:srgbClr val="93C5FD"/>
                </a:solidFill>
              </a:rPr>
              <a:t>From data to doorstep in 5 minutes</a:t>
            </a:r>
          </a:p>
        </p:txBody>
      </p:sp>
      <p:sp>
        <p:nvSpPr>
          <p:cNvPr id="9" name="TextBox 8"/>
          <p:cNvSpPr txBox="1"/>
          <p:nvPr/>
        </p:nvSpPr>
        <p:spPr>
          <a:xfrm>
            <a:off x="1097280" y="3794760"/>
            <a:ext cx="8229600" cy="457200"/>
          </a:xfrm>
          <a:prstGeom prst="rect">
            <a:avLst/>
          </a:prstGeom>
          <a:noFill/>
        </p:spPr>
        <p:txBody>
          <a:bodyPr wrap="square">
            <a:spAutoFit/>
          </a:bodyPr>
          <a:lstStyle/>
          <a:p>
            <a:pPr algn="l"/>
            <a:r>
              <a:rPr sz="1400" b="0" i="0">
                <a:solidFill>
                  <a:srgbClr val="BFDBFE"/>
                </a:solidFill>
              </a:rPr>
              <a:t>Turning territory data into personalized meeting prep, automatically.</a:t>
            </a:r>
          </a:p>
        </p:txBody>
      </p:sp>
      <p:sp>
        <p:nvSpPr>
          <p:cNvPr id="10" name="Rectangle 9"/>
          <p:cNvSpPr/>
          <p:nvPr/>
        </p:nvSpPr>
        <p:spPr>
          <a:xfrm>
            <a:off x="1097280" y="5029200"/>
            <a:ext cx="36576" cy="7315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5074920"/>
            <a:ext cx="8229600" cy="320040"/>
          </a:xfrm>
          <a:prstGeom prst="rect">
            <a:avLst/>
          </a:prstGeom>
          <a:noFill/>
        </p:spPr>
        <p:txBody>
          <a:bodyPr wrap="square">
            <a:spAutoFit/>
          </a:bodyPr>
          <a:lstStyle/>
          <a:p>
            <a:pPr algn="l"/>
            <a:r>
              <a:rPr sz="1100" b="0" i="0">
                <a:solidFill>
                  <a:srgbClr val="6B7280"/>
                </a:solidFill>
              </a:rPr>
              <a:t>Case Study  ·  GenAI Product Builder Role  ·  Tempus AI</a:t>
            </a:r>
          </a:p>
        </p:txBody>
      </p:sp>
      <p:sp>
        <p:nvSpPr>
          <p:cNvPr id="12" name="TextBox 11"/>
          <p:cNvSpPr txBox="1"/>
          <p:nvPr/>
        </p:nvSpPr>
        <p:spPr>
          <a:xfrm>
            <a:off x="1234440" y="5394960"/>
            <a:ext cx="8229600" cy="274320"/>
          </a:xfrm>
          <a:prstGeom prst="rect">
            <a:avLst/>
          </a:prstGeom>
          <a:noFill/>
        </p:spPr>
        <p:txBody>
          <a:bodyPr wrap="square">
            <a:spAutoFit/>
          </a:bodyPr>
          <a:lstStyle/>
          <a:p>
            <a:pPr algn="l"/>
            <a:r>
              <a:rPr sz="1000" b="0" i="0">
                <a:solidFill>
                  <a:srgbClr val="6B7280"/>
                </a:solidFill>
              </a:rPr>
              <a:t>Harish Arul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583680"/>
            <a:ext cx="11825935" cy="274320"/>
          </a:xfrm>
          <a:prstGeom prst="rect">
            <a:avLst/>
          </a:prstGeom>
          <a:noFill/>
        </p:spPr>
        <p:txBody>
          <a:bodyPr wrap="square">
            <a:spAutoFit/>
          </a:bodyPr>
          <a:lstStyle/>
          <a:p>
            <a:pPr algn="l"/>
            <a:r>
              <a:rPr sz="800" b="0" i="0">
                <a:solidFill>
                  <a:srgbClr val="FFFFFF"/>
                </a:solidFill>
              </a:rPr>
              <a:t>Tempus Sales Copilot  ·  Confidential</a:t>
            </a:r>
          </a:p>
        </p:txBody>
      </p:sp>
      <p:sp>
        <p:nvSpPr>
          <p:cNvPr id="5" name="TextBox 4"/>
          <p:cNvSpPr txBox="1"/>
          <p:nvPr/>
        </p:nvSpPr>
        <p:spPr>
          <a:xfrm>
            <a:off x="11734495" y="6537960"/>
            <a:ext cx="320040" cy="274320"/>
          </a:xfrm>
          <a:prstGeom prst="rect">
            <a:avLst/>
          </a:prstGeom>
          <a:noFill/>
        </p:spPr>
        <p:txBody>
          <a:bodyPr wrap="square">
            <a:spAutoFit/>
          </a:bodyPr>
          <a:lstStyle/>
          <a:p>
            <a:pPr algn="r"/>
            <a:r>
              <a:rPr sz="900" b="0" i="0">
                <a:solidFill>
                  <a:srgbClr val="6B7280"/>
                </a:solidFill>
              </a:rPr>
              <a:t>2</a:t>
            </a:r>
          </a:p>
        </p:txBody>
      </p:sp>
      <p:sp>
        <p:nvSpPr>
          <p:cNvPr id="6" name="TextBox 5"/>
          <p:cNvSpPr txBox="1"/>
          <p:nvPr/>
        </p:nvSpPr>
        <p:spPr>
          <a:xfrm>
            <a:off x="274320" y="274320"/>
            <a:ext cx="3657600" cy="274320"/>
          </a:xfrm>
          <a:prstGeom prst="rect">
            <a:avLst/>
          </a:prstGeom>
          <a:noFill/>
        </p:spPr>
        <p:txBody>
          <a:bodyPr wrap="square">
            <a:spAutoFit/>
          </a:bodyPr>
          <a:lstStyle/>
          <a:p>
            <a:pPr algn="l"/>
            <a:r>
              <a:rPr sz="1000" b="1" i="0">
                <a:solidFill>
                  <a:srgbClr val="1D4ED8"/>
                </a:solidFill>
              </a:rPr>
              <a:t>THE PROBLEM</a:t>
            </a:r>
          </a:p>
        </p:txBody>
      </p:sp>
      <p:sp>
        <p:nvSpPr>
          <p:cNvPr id="7" name="TextBox 6"/>
          <p:cNvSpPr txBox="1"/>
          <p:nvPr/>
        </p:nvSpPr>
        <p:spPr>
          <a:xfrm>
            <a:off x="274320" y="594360"/>
            <a:ext cx="5943600" cy="1188720"/>
          </a:xfrm>
          <a:prstGeom prst="rect">
            <a:avLst/>
          </a:prstGeom>
          <a:noFill/>
        </p:spPr>
        <p:txBody>
          <a:bodyPr wrap="square">
            <a:spAutoFit/>
          </a:bodyPr>
          <a:lstStyle/>
          <a:p>
            <a:pPr algn="l"/>
            <a:r>
              <a:rPr sz="3000" b="1" i="0">
                <a:solidFill>
                  <a:srgbClr val="111827"/>
                </a:solidFill>
              </a:rPr>
              <a:t>Reps have the data.
They don't have the time.</a:t>
            </a:r>
          </a:p>
        </p:txBody>
      </p:sp>
      <p:sp>
        <p:nvSpPr>
          <p:cNvPr id="8" name="Rectangle 7"/>
          <p:cNvSpPr/>
          <p:nvPr/>
        </p:nvSpPr>
        <p:spPr>
          <a:xfrm>
            <a:off x="274320" y="1965960"/>
            <a:ext cx="2011680" cy="1005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057400"/>
            <a:ext cx="1737360" cy="502920"/>
          </a:xfrm>
          <a:prstGeom prst="rect">
            <a:avLst/>
          </a:prstGeom>
          <a:noFill/>
        </p:spPr>
        <p:txBody>
          <a:bodyPr wrap="square">
            <a:spAutoFit/>
          </a:bodyPr>
          <a:lstStyle/>
          <a:p>
            <a:pPr algn="ctr"/>
            <a:r>
              <a:rPr sz="2800" b="1" i="0">
                <a:solidFill>
                  <a:srgbClr val="1D4ED8"/>
                </a:solidFill>
              </a:rPr>
              <a:t>2–4 hrs</a:t>
            </a:r>
          </a:p>
        </p:txBody>
      </p:sp>
      <p:sp>
        <p:nvSpPr>
          <p:cNvPr id="10" name="TextBox 9"/>
          <p:cNvSpPr txBox="1"/>
          <p:nvPr/>
        </p:nvSpPr>
        <p:spPr>
          <a:xfrm>
            <a:off x="365760" y="2560320"/>
            <a:ext cx="1828800" cy="365760"/>
          </a:xfrm>
          <a:prstGeom prst="rect">
            <a:avLst/>
          </a:prstGeom>
          <a:noFill/>
        </p:spPr>
        <p:txBody>
          <a:bodyPr wrap="square">
            <a:spAutoFit/>
          </a:bodyPr>
          <a:lstStyle/>
          <a:p>
            <a:pPr algn="ctr"/>
            <a:r>
              <a:rPr sz="1100" b="0" i="0">
                <a:solidFill>
                  <a:srgbClr val="6B7280"/>
                </a:solidFill>
              </a:rPr>
              <a:t>prep per meeting</a:t>
            </a:r>
          </a:p>
        </p:txBody>
      </p:sp>
      <p:sp>
        <p:nvSpPr>
          <p:cNvPr id="11" name="Rectangle 10"/>
          <p:cNvSpPr/>
          <p:nvPr/>
        </p:nvSpPr>
        <p:spPr>
          <a:xfrm>
            <a:off x="2468880" y="1965960"/>
            <a:ext cx="2011680" cy="1005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40" y="2057400"/>
            <a:ext cx="1737360" cy="502920"/>
          </a:xfrm>
          <a:prstGeom prst="rect">
            <a:avLst/>
          </a:prstGeom>
          <a:noFill/>
        </p:spPr>
        <p:txBody>
          <a:bodyPr wrap="square">
            <a:spAutoFit/>
          </a:bodyPr>
          <a:lstStyle/>
          <a:p>
            <a:pPr algn="ctr"/>
            <a:r>
              <a:rPr sz="2800" b="1" i="0">
                <a:solidFill>
                  <a:srgbClr val="1D4ED8"/>
                </a:solidFill>
              </a:rPr>
              <a:t>3</a:t>
            </a:r>
          </a:p>
        </p:txBody>
      </p:sp>
      <p:sp>
        <p:nvSpPr>
          <p:cNvPr id="13" name="TextBox 12"/>
          <p:cNvSpPr txBox="1"/>
          <p:nvPr/>
        </p:nvSpPr>
        <p:spPr>
          <a:xfrm>
            <a:off x="2560320" y="2560320"/>
            <a:ext cx="1828800" cy="365760"/>
          </a:xfrm>
          <a:prstGeom prst="rect">
            <a:avLst/>
          </a:prstGeom>
          <a:noFill/>
        </p:spPr>
        <p:txBody>
          <a:bodyPr wrap="square">
            <a:spAutoFit/>
          </a:bodyPr>
          <a:lstStyle/>
          <a:p>
            <a:pPr algn="ctr"/>
            <a:r>
              <a:rPr sz="1100" b="0" i="0">
                <a:solidFill>
                  <a:srgbClr val="6B7280"/>
                </a:solidFill>
              </a:rPr>
              <a:t>disconnected
data sources</a:t>
            </a:r>
          </a:p>
        </p:txBody>
      </p:sp>
      <p:sp>
        <p:nvSpPr>
          <p:cNvPr id="14" name="Rectangle 13"/>
          <p:cNvSpPr/>
          <p:nvPr/>
        </p:nvSpPr>
        <p:spPr>
          <a:xfrm>
            <a:off x="4663440" y="1965960"/>
            <a:ext cx="2011680" cy="1005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2057400"/>
            <a:ext cx="1737360" cy="502920"/>
          </a:xfrm>
          <a:prstGeom prst="rect">
            <a:avLst/>
          </a:prstGeom>
          <a:noFill/>
        </p:spPr>
        <p:txBody>
          <a:bodyPr wrap="square">
            <a:spAutoFit/>
          </a:bodyPr>
          <a:lstStyle/>
          <a:p>
            <a:pPr algn="ctr"/>
            <a:r>
              <a:rPr sz="2800" b="1" i="0">
                <a:solidFill>
                  <a:srgbClr val="1D4ED8"/>
                </a:solidFill>
              </a:rPr>
              <a:t>150+</a:t>
            </a:r>
          </a:p>
        </p:txBody>
      </p:sp>
      <p:sp>
        <p:nvSpPr>
          <p:cNvPr id="16" name="TextBox 15"/>
          <p:cNvSpPr txBox="1"/>
          <p:nvPr/>
        </p:nvSpPr>
        <p:spPr>
          <a:xfrm>
            <a:off x="4754880" y="2560320"/>
            <a:ext cx="1828800" cy="365760"/>
          </a:xfrm>
          <a:prstGeom prst="rect">
            <a:avLst/>
          </a:prstGeom>
          <a:noFill/>
        </p:spPr>
        <p:txBody>
          <a:bodyPr wrap="square">
            <a:spAutoFit/>
          </a:bodyPr>
          <a:lstStyle/>
          <a:p>
            <a:pPr algn="ctr"/>
            <a:r>
              <a:rPr sz="1100" b="0" i="0">
                <a:solidFill>
                  <a:srgbClr val="6B7280"/>
                </a:solidFill>
              </a:rPr>
              <a:t>accounts per
rep territory</a:t>
            </a:r>
          </a:p>
        </p:txBody>
      </p:sp>
      <p:sp>
        <p:nvSpPr>
          <p:cNvPr id="17" name="Rectangle 16"/>
          <p:cNvSpPr/>
          <p:nvPr/>
        </p:nvSpPr>
        <p:spPr>
          <a:xfrm>
            <a:off x="6858000" y="1965960"/>
            <a:ext cx="2011680" cy="100584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2057400"/>
            <a:ext cx="1737360" cy="502920"/>
          </a:xfrm>
          <a:prstGeom prst="rect">
            <a:avLst/>
          </a:prstGeom>
          <a:noFill/>
        </p:spPr>
        <p:txBody>
          <a:bodyPr wrap="square">
            <a:spAutoFit/>
          </a:bodyPr>
          <a:lstStyle/>
          <a:p>
            <a:pPr algn="ctr"/>
            <a:r>
              <a:rPr sz="2800" b="1" i="0">
                <a:solidFill>
                  <a:srgbClr val="1D4ED8"/>
                </a:solidFill>
              </a:rPr>
              <a:t>~12%</a:t>
            </a:r>
          </a:p>
        </p:txBody>
      </p:sp>
      <p:sp>
        <p:nvSpPr>
          <p:cNvPr id="19" name="TextBox 18"/>
          <p:cNvSpPr txBox="1"/>
          <p:nvPr/>
        </p:nvSpPr>
        <p:spPr>
          <a:xfrm>
            <a:off x="6949440" y="2560320"/>
            <a:ext cx="1828800" cy="365760"/>
          </a:xfrm>
          <a:prstGeom prst="rect">
            <a:avLst/>
          </a:prstGeom>
          <a:noFill/>
        </p:spPr>
        <p:txBody>
          <a:bodyPr wrap="square">
            <a:spAutoFit/>
          </a:bodyPr>
          <a:lstStyle/>
          <a:p>
            <a:pPr algn="ctr"/>
            <a:r>
              <a:rPr sz="1100" b="0" i="0">
                <a:solidFill>
                  <a:srgbClr val="6B7280"/>
                </a:solidFill>
              </a:rPr>
              <a:t>pipeline close
rate today</a:t>
            </a:r>
          </a:p>
        </p:txBody>
      </p:sp>
      <p:sp>
        <p:nvSpPr>
          <p:cNvPr id="20" name="TextBox 19"/>
          <p:cNvSpPr txBox="1"/>
          <p:nvPr/>
        </p:nvSpPr>
        <p:spPr>
          <a:xfrm>
            <a:off x="274320" y="3200400"/>
            <a:ext cx="8686800" cy="2468880"/>
          </a:xfrm>
          <a:prstGeom prst="rect">
            <a:avLst/>
          </a:prstGeom>
          <a:noFill/>
        </p:spPr>
        <p:txBody>
          <a:bodyPr wrap="square">
            <a:spAutoFit/>
          </a:bodyPr>
          <a:lstStyle/>
          <a:p>
            <a:pPr algn="l">
              <a:spcAft>
                <a:spcPts val="600"/>
              </a:spcAft>
            </a:pPr>
            <a:r>
              <a:rPr sz="1500" b="1">
                <a:solidFill>
                  <a:srgbClr val="1D4ED8"/>
                </a:solidFill>
              </a:rPr>
              <a:t>• </a:t>
            </a:r>
            <a:r>
              <a:rPr sz="1500">
                <a:solidFill>
                  <a:srgbClr val="111827"/>
                </a:solidFill>
              </a:rPr>
              <a:t>2–4 hours of manual prep for every 15-minute meeting</a:t>
            </a:r>
          </a:p>
          <a:p>
            <a:pPr algn="l">
              <a:spcAft>
                <a:spcPts val="600"/>
              </a:spcAft>
            </a:pPr>
            <a:r>
              <a:rPr sz="1500" b="1">
                <a:solidFill>
                  <a:srgbClr val="1D4ED8"/>
                </a:solidFill>
              </a:rPr>
              <a:t>• </a:t>
            </a:r>
            <a:r>
              <a:rPr sz="1500">
                <a:solidFill>
                  <a:srgbClr val="111827"/>
                </a:solidFill>
              </a:rPr>
              <a:t>3 disconnected sources: Salesforce CRM, market spreadsheets, product docs</a:t>
            </a:r>
          </a:p>
          <a:p>
            <a:pPr algn="l">
              <a:spcAft>
                <a:spcPts val="600"/>
              </a:spcAft>
            </a:pPr>
            <a:r>
              <a:rPr sz="1500" b="1">
                <a:solidFill>
                  <a:srgbClr val="1D4ED8"/>
                </a:solidFill>
              </a:rPr>
              <a:t>• </a:t>
            </a:r>
            <a:r>
              <a:rPr sz="1500">
                <a:solidFill>
                  <a:srgbClr val="111827"/>
                </a:solidFill>
              </a:rPr>
              <a:t>Junior reps miss connections that cost deals (e.g., high-volume lung oncologist not ordering xR RNA sequencing)</a:t>
            </a:r>
          </a:p>
          <a:p>
            <a:pPr algn="l">
              <a:spcAft>
                <a:spcPts val="600"/>
              </a:spcAft>
            </a:pPr>
            <a:r>
              <a:rPr sz="1500" b="1">
                <a:solidFill>
                  <a:srgbClr val="1D4ED8"/>
                </a:solidFill>
              </a:rPr>
              <a:t>• </a:t>
            </a:r>
            <a:r>
              <a:rPr sz="1500">
                <a:solidFill>
                  <a:srgbClr val="111827"/>
                </a:solidFill>
              </a:rPr>
              <a:t>Result: fewer meetings, generic pitches, inconsistent rep performance</a:t>
            </a:r>
          </a:p>
        </p:txBody>
      </p:sp>
      <p:sp>
        <p:nvSpPr>
          <p:cNvPr id="21" name="Rectangle 20"/>
          <p:cNvSpPr/>
          <p:nvPr/>
        </p:nvSpPr>
        <p:spPr>
          <a:xfrm>
            <a:off x="9235440" y="914400"/>
            <a:ext cx="2743200" cy="5029200"/>
          </a:xfrm>
          <a:prstGeom prst="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600" y="1188720"/>
            <a:ext cx="2468880" cy="1828800"/>
          </a:xfrm>
          <a:prstGeom prst="rect">
            <a:avLst/>
          </a:prstGeom>
          <a:noFill/>
        </p:spPr>
        <p:txBody>
          <a:bodyPr wrap="square">
            <a:spAutoFit/>
          </a:bodyPr>
          <a:lstStyle/>
          <a:p>
            <a:pPr algn="ctr"/>
            <a:r>
              <a:rPr sz="1300" b="0" i="1">
                <a:solidFill>
                  <a:srgbClr val="111827"/>
                </a:solidFill>
              </a:rPr>
              <a:t>"I have 150 accounts. Which 10 should I call this week, and what exactly should I say to each one?"</a:t>
            </a:r>
          </a:p>
        </p:txBody>
      </p:sp>
      <p:sp>
        <p:nvSpPr>
          <p:cNvPr id="23" name="TextBox 22"/>
          <p:cNvSpPr txBox="1"/>
          <p:nvPr/>
        </p:nvSpPr>
        <p:spPr>
          <a:xfrm>
            <a:off x="9372600" y="3108960"/>
            <a:ext cx="2468880" cy="320040"/>
          </a:xfrm>
          <a:prstGeom prst="rect">
            <a:avLst/>
          </a:prstGeom>
          <a:noFill/>
        </p:spPr>
        <p:txBody>
          <a:bodyPr wrap="square">
            <a:spAutoFit/>
          </a:bodyPr>
          <a:lstStyle/>
          <a:p>
            <a:pPr algn="ctr"/>
            <a:r>
              <a:rPr sz="1100" b="0" i="0">
                <a:solidFill>
                  <a:srgbClr val="6B7280"/>
                </a:solidFill>
              </a:rPr>
              <a:t>— Tempus Sales Rep</a:t>
            </a:r>
          </a:p>
        </p:txBody>
      </p:sp>
      <p:sp>
        <p:nvSpPr>
          <p:cNvPr id="24" name="TextBox 23"/>
          <p:cNvSpPr txBox="1"/>
          <p:nvPr/>
        </p:nvSpPr>
        <p:spPr>
          <a:xfrm>
            <a:off x="9372600" y="4297680"/>
            <a:ext cx="2468880" cy="274320"/>
          </a:xfrm>
          <a:prstGeom prst="rect">
            <a:avLst/>
          </a:prstGeom>
          <a:noFill/>
        </p:spPr>
        <p:txBody>
          <a:bodyPr wrap="square">
            <a:spAutoFit/>
          </a:bodyPr>
          <a:lstStyle/>
          <a:p>
            <a:pPr algn="ctr"/>
            <a:r>
              <a:rPr sz="1000" b="1" i="0">
                <a:solidFill>
                  <a:srgbClr val="1D4ED8"/>
                </a:solidFill>
              </a:rPr>
              <a:t>Primary User</a:t>
            </a:r>
          </a:p>
        </p:txBody>
      </p:sp>
      <p:sp>
        <p:nvSpPr>
          <p:cNvPr id="25" name="TextBox 24"/>
          <p:cNvSpPr txBox="1"/>
          <p:nvPr/>
        </p:nvSpPr>
        <p:spPr>
          <a:xfrm>
            <a:off x="9372600" y="4663440"/>
            <a:ext cx="2468880" cy="914400"/>
          </a:xfrm>
          <a:prstGeom prst="rect">
            <a:avLst/>
          </a:prstGeom>
          <a:noFill/>
        </p:spPr>
        <p:txBody>
          <a:bodyPr wrap="square">
            <a:spAutoFit/>
          </a:bodyPr>
          <a:lstStyle/>
          <a:p>
            <a:pPr algn="l">
              <a:spcAft>
                <a:spcPts val="600"/>
              </a:spcAft>
            </a:pPr>
            <a:r>
              <a:rPr sz="1100" b="1">
                <a:solidFill>
                  <a:srgbClr val="1D4ED8"/>
                </a:solidFill>
              </a:rPr>
              <a:t>• </a:t>
            </a:r>
            <a:r>
              <a:rPr sz="1100">
                <a:solidFill>
                  <a:srgbClr val="6B7280"/>
                </a:solidFill>
              </a:rPr>
              <a:t>Field sales rep</a:t>
            </a:r>
          </a:p>
          <a:p>
            <a:pPr algn="l">
              <a:spcAft>
                <a:spcPts val="600"/>
              </a:spcAft>
            </a:pPr>
            <a:r>
              <a:rPr sz="1100" b="1">
                <a:solidFill>
                  <a:srgbClr val="1D4ED8"/>
                </a:solidFill>
              </a:rPr>
              <a:t>• </a:t>
            </a:r>
            <a:r>
              <a:rPr sz="1100">
                <a:solidFill>
                  <a:srgbClr val="6B7280"/>
                </a:solidFill>
              </a:rPr>
              <a:t>~150 accounts</a:t>
            </a:r>
          </a:p>
          <a:p>
            <a:pPr algn="l">
              <a:spcAft>
                <a:spcPts val="600"/>
              </a:spcAft>
            </a:pPr>
            <a:r>
              <a:rPr sz="1100" b="1">
                <a:solidFill>
                  <a:srgbClr val="1D4ED8"/>
                </a:solidFill>
              </a:rPr>
              <a:t>• </a:t>
            </a:r>
            <a:r>
              <a:rPr sz="1100">
                <a:solidFill>
                  <a:srgbClr val="6B7280"/>
                </a:solidFill>
              </a:rPr>
              <a:t>8 meetings/week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583680"/>
            <a:ext cx="11825935" cy="274320"/>
          </a:xfrm>
          <a:prstGeom prst="rect">
            <a:avLst/>
          </a:prstGeom>
          <a:noFill/>
        </p:spPr>
        <p:txBody>
          <a:bodyPr wrap="square">
            <a:spAutoFit/>
          </a:bodyPr>
          <a:lstStyle/>
          <a:p>
            <a:pPr algn="l"/>
            <a:r>
              <a:rPr sz="800" b="0" i="0">
                <a:solidFill>
                  <a:srgbClr val="FFFFFF"/>
                </a:solidFill>
              </a:rPr>
              <a:t>Tempus Sales Copilot  ·  Confidential</a:t>
            </a:r>
          </a:p>
        </p:txBody>
      </p:sp>
      <p:sp>
        <p:nvSpPr>
          <p:cNvPr id="5" name="TextBox 4"/>
          <p:cNvSpPr txBox="1"/>
          <p:nvPr/>
        </p:nvSpPr>
        <p:spPr>
          <a:xfrm>
            <a:off x="11734495" y="6537960"/>
            <a:ext cx="320040" cy="274320"/>
          </a:xfrm>
          <a:prstGeom prst="rect">
            <a:avLst/>
          </a:prstGeom>
          <a:noFill/>
        </p:spPr>
        <p:txBody>
          <a:bodyPr wrap="square">
            <a:spAutoFit/>
          </a:bodyPr>
          <a:lstStyle/>
          <a:p>
            <a:pPr algn="r"/>
            <a:r>
              <a:rPr sz="900" b="0" i="0">
                <a:solidFill>
                  <a:srgbClr val="6B7280"/>
                </a:solidFill>
              </a:rPr>
              <a:t>3</a:t>
            </a:r>
          </a:p>
        </p:txBody>
      </p:sp>
      <p:sp>
        <p:nvSpPr>
          <p:cNvPr id="6" name="TextBox 5"/>
          <p:cNvSpPr txBox="1"/>
          <p:nvPr/>
        </p:nvSpPr>
        <p:spPr>
          <a:xfrm>
            <a:off x="274320" y="274320"/>
            <a:ext cx="3657600" cy="274320"/>
          </a:xfrm>
          <a:prstGeom prst="rect">
            <a:avLst/>
          </a:prstGeom>
          <a:noFill/>
        </p:spPr>
        <p:txBody>
          <a:bodyPr wrap="square">
            <a:spAutoFit/>
          </a:bodyPr>
          <a:lstStyle/>
          <a:p>
            <a:pPr algn="l"/>
            <a:r>
              <a:rPr sz="1000" b="1" i="0">
                <a:solidFill>
                  <a:srgbClr val="059669"/>
                </a:solidFill>
              </a:rPr>
              <a:t>THE INSIGHT</a:t>
            </a:r>
          </a:p>
        </p:txBody>
      </p:sp>
      <p:sp>
        <p:nvSpPr>
          <p:cNvPr id="7" name="TextBox 6"/>
          <p:cNvSpPr txBox="1"/>
          <p:nvPr/>
        </p:nvSpPr>
        <p:spPr>
          <a:xfrm>
            <a:off x="274320" y="594360"/>
            <a:ext cx="6400800" cy="1188720"/>
          </a:xfrm>
          <a:prstGeom prst="rect">
            <a:avLst/>
          </a:prstGeom>
          <a:noFill/>
        </p:spPr>
        <p:txBody>
          <a:bodyPr wrap="square">
            <a:spAutoFit/>
          </a:bodyPr>
          <a:lstStyle/>
          <a:p>
            <a:pPr algn="l"/>
            <a:r>
              <a:rPr sz="3000" b="1" i="0">
                <a:solidFill>
                  <a:srgbClr val="111827"/>
                </a:solidFill>
              </a:rPr>
              <a:t>This isn't a search problem.
It's a synthesis problem.</a:t>
            </a:r>
          </a:p>
        </p:txBody>
      </p:sp>
      <p:sp>
        <p:nvSpPr>
          <p:cNvPr id="8" name="Rectangle 7"/>
          <p:cNvSpPr/>
          <p:nvPr/>
        </p:nvSpPr>
        <p:spPr>
          <a:xfrm>
            <a:off x="274320" y="2011680"/>
            <a:ext cx="3566160" cy="34747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2011680"/>
            <a:ext cx="3566160"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286000"/>
            <a:ext cx="1371600" cy="685800"/>
          </a:xfrm>
          <a:prstGeom prst="rect">
            <a:avLst/>
          </a:prstGeom>
          <a:noFill/>
        </p:spPr>
        <p:txBody>
          <a:bodyPr wrap="square">
            <a:spAutoFit/>
          </a:bodyPr>
          <a:lstStyle/>
          <a:p>
            <a:pPr algn="l"/>
            <a:r>
              <a:rPr sz="3600" b="1" i="0">
                <a:solidFill>
                  <a:srgbClr val="1D4ED8"/>
                </a:solidFill>
              </a:rPr>
              <a:t>WHO</a:t>
            </a:r>
          </a:p>
        </p:txBody>
      </p:sp>
      <p:sp>
        <p:nvSpPr>
          <p:cNvPr id="11" name="TextBox 10"/>
          <p:cNvSpPr txBox="1"/>
          <p:nvPr/>
        </p:nvSpPr>
        <p:spPr>
          <a:xfrm>
            <a:off x="457200" y="2971800"/>
            <a:ext cx="3200400" cy="365760"/>
          </a:xfrm>
          <a:prstGeom prst="rect">
            <a:avLst/>
          </a:prstGeom>
          <a:noFill/>
        </p:spPr>
        <p:txBody>
          <a:bodyPr wrap="square">
            <a:spAutoFit/>
          </a:bodyPr>
          <a:lstStyle/>
          <a:p>
            <a:pPr algn="l"/>
            <a:r>
              <a:rPr sz="1600" b="0" i="0">
                <a:solidFill>
                  <a:srgbClr val="6B7280"/>
                </a:solidFill>
              </a:rPr>
              <a:t>to call</a:t>
            </a:r>
          </a:p>
        </p:txBody>
      </p:sp>
      <p:sp>
        <p:nvSpPr>
          <p:cNvPr id="12" name="TextBox 11"/>
          <p:cNvSpPr txBox="1"/>
          <p:nvPr/>
        </p:nvSpPr>
        <p:spPr>
          <a:xfrm>
            <a:off x="457200" y="3383280"/>
            <a:ext cx="3200400" cy="1645920"/>
          </a:xfrm>
          <a:prstGeom prst="rect">
            <a:avLst/>
          </a:prstGeom>
          <a:noFill/>
        </p:spPr>
        <p:txBody>
          <a:bodyPr wrap="square">
            <a:spAutoFit/>
          </a:bodyPr>
          <a:lstStyle/>
          <a:p>
            <a:pPr algn="l"/>
            <a:r>
              <a:rPr sz="1300" b="0" i="0">
                <a:solidFill>
                  <a:srgbClr val="111827"/>
                </a:solidFill>
              </a:rPr>
              <a:t>Ranked by revenue opportunity × fit × recency × relationship warmth</a:t>
            </a:r>
          </a:p>
        </p:txBody>
      </p:sp>
      <p:sp>
        <p:nvSpPr>
          <p:cNvPr id="13" name="Rectangle 12"/>
          <p:cNvSpPr/>
          <p:nvPr/>
        </p:nvSpPr>
        <p:spPr>
          <a:xfrm>
            <a:off x="4114800" y="2011680"/>
            <a:ext cx="3566160" cy="34747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0" y="2011680"/>
            <a:ext cx="35661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286000"/>
            <a:ext cx="1371600" cy="685800"/>
          </a:xfrm>
          <a:prstGeom prst="rect">
            <a:avLst/>
          </a:prstGeom>
          <a:noFill/>
        </p:spPr>
        <p:txBody>
          <a:bodyPr wrap="square">
            <a:spAutoFit/>
          </a:bodyPr>
          <a:lstStyle/>
          <a:p>
            <a:pPr algn="l"/>
            <a:r>
              <a:rPr sz="3600" b="1" i="0">
                <a:solidFill>
                  <a:srgbClr val="059669"/>
                </a:solidFill>
              </a:rPr>
              <a:t>WHAT</a:t>
            </a:r>
          </a:p>
        </p:txBody>
      </p:sp>
      <p:sp>
        <p:nvSpPr>
          <p:cNvPr id="16" name="TextBox 15"/>
          <p:cNvSpPr txBox="1"/>
          <p:nvPr/>
        </p:nvSpPr>
        <p:spPr>
          <a:xfrm>
            <a:off x="4297680" y="2971800"/>
            <a:ext cx="3200400" cy="365760"/>
          </a:xfrm>
          <a:prstGeom prst="rect">
            <a:avLst/>
          </a:prstGeom>
          <a:noFill/>
        </p:spPr>
        <p:txBody>
          <a:bodyPr wrap="square">
            <a:spAutoFit/>
          </a:bodyPr>
          <a:lstStyle/>
          <a:p>
            <a:pPr algn="l"/>
            <a:r>
              <a:rPr sz="1600" b="0" i="0">
                <a:solidFill>
                  <a:srgbClr val="6B7280"/>
                </a:solidFill>
              </a:rPr>
              <a:t>to say</a:t>
            </a:r>
          </a:p>
        </p:txBody>
      </p:sp>
      <p:sp>
        <p:nvSpPr>
          <p:cNvPr id="17" name="TextBox 16"/>
          <p:cNvSpPr txBox="1"/>
          <p:nvPr/>
        </p:nvSpPr>
        <p:spPr>
          <a:xfrm>
            <a:off x="4297680" y="3383280"/>
            <a:ext cx="3200400" cy="1645920"/>
          </a:xfrm>
          <a:prstGeom prst="rect">
            <a:avLst/>
          </a:prstGeom>
          <a:noFill/>
        </p:spPr>
        <p:txBody>
          <a:bodyPr wrap="square">
            <a:spAutoFit/>
          </a:bodyPr>
          <a:lstStyle/>
          <a:p>
            <a:pPr algn="l"/>
            <a:r>
              <a:rPr sz="1300" b="0" i="0">
                <a:solidFill>
                  <a:srgbClr val="111827"/>
                </a:solidFill>
              </a:rPr>
              <a:t>Personalized to the doctor's specialty, patient mix, and known interests</a:t>
            </a:r>
          </a:p>
        </p:txBody>
      </p:sp>
      <p:sp>
        <p:nvSpPr>
          <p:cNvPr id="18" name="Rectangle 17"/>
          <p:cNvSpPr/>
          <p:nvPr/>
        </p:nvSpPr>
        <p:spPr>
          <a:xfrm>
            <a:off x="7955280" y="2011680"/>
            <a:ext cx="3566160" cy="34747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55280" y="2011680"/>
            <a:ext cx="356616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2286000"/>
            <a:ext cx="1371600" cy="685800"/>
          </a:xfrm>
          <a:prstGeom prst="rect">
            <a:avLst/>
          </a:prstGeom>
          <a:noFill/>
        </p:spPr>
        <p:txBody>
          <a:bodyPr wrap="square">
            <a:spAutoFit/>
          </a:bodyPr>
          <a:lstStyle/>
          <a:p>
            <a:pPr algn="l"/>
            <a:r>
              <a:rPr sz="3600" b="1" i="0">
                <a:solidFill>
                  <a:srgbClr val="D97706"/>
                </a:solidFill>
              </a:rPr>
              <a:t>HOW</a:t>
            </a:r>
          </a:p>
        </p:txBody>
      </p:sp>
      <p:sp>
        <p:nvSpPr>
          <p:cNvPr id="21" name="TextBox 20"/>
          <p:cNvSpPr txBox="1"/>
          <p:nvPr/>
        </p:nvSpPr>
        <p:spPr>
          <a:xfrm>
            <a:off x="8138160" y="2971800"/>
            <a:ext cx="3200400" cy="365760"/>
          </a:xfrm>
          <a:prstGeom prst="rect">
            <a:avLst/>
          </a:prstGeom>
          <a:noFill/>
        </p:spPr>
        <p:txBody>
          <a:bodyPr wrap="square">
            <a:spAutoFit/>
          </a:bodyPr>
          <a:lstStyle/>
          <a:p>
            <a:pPr algn="l"/>
            <a:r>
              <a:rPr sz="1600" b="0" i="0">
                <a:solidFill>
                  <a:srgbClr val="6B7280"/>
                </a:solidFill>
              </a:rPr>
              <a:t>to handle pushback</a:t>
            </a:r>
          </a:p>
        </p:txBody>
      </p:sp>
      <p:sp>
        <p:nvSpPr>
          <p:cNvPr id="22" name="TextBox 21"/>
          <p:cNvSpPr txBox="1"/>
          <p:nvPr/>
        </p:nvSpPr>
        <p:spPr>
          <a:xfrm>
            <a:off x="8138160" y="3383280"/>
            <a:ext cx="3200400" cy="1645920"/>
          </a:xfrm>
          <a:prstGeom prst="rect">
            <a:avLst/>
          </a:prstGeom>
          <a:noFill/>
        </p:spPr>
        <p:txBody>
          <a:bodyPr wrap="square">
            <a:spAutoFit/>
          </a:bodyPr>
          <a:lstStyle/>
          <a:p>
            <a:pPr algn="l"/>
            <a:r>
              <a:rPr sz="1300" b="0" i="0">
                <a:solidFill>
                  <a:srgbClr val="111827"/>
                </a:solidFill>
              </a:rPr>
              <a:t>Grounded in real Tempus performance data, not generic talking points</a:t>
            </a:r>
          </a:p>
        </p:txBody>
      </p:sp>
      <p:sp>
        <p:nvSpPr>
          <p:cNvPr id="23" name="TextBox 22"/>
          <p:cNvSpPr txBox="1"/>
          <p:nvPr/>
        </p:nvSpPr>
        <p:spPr>
          <a:xfrm>
            <a:off x="274320" y="5760720"/>
            <a:ext cx="11612880" cy="457200"/>
          </a:xfrm>
          <a:prstGeom prst="rect">
            <a:avLst/>
          </a:prstGeom>
          <a:noFill/>
        </p:spPr>
        <p:txBody>
          <a:bodyPr wrap="square">
            <a:spAutoFit/>
          </a:bodyPr>
          <a:lstStyle/>
          <a:p>
            <a:pPr algn="ctr"/>
            <a:r>
              <a:rPr sz="1300" b="0" i="1">
                <a:solidFill>
                  <a:srgbClr val="6B7280"/>
                </a:solidFill>
              </a:rPr>
              <a:t>The Copilot doesn't replace the rep's judgment. It gives every rep the preparation of a 10-year veteran.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583680"/>
            <a:ext cx="11825935" cy="274320"/>
          </a:xfrm>
          <a:prstGeom prst="rect">
            <a:avLst/>
          </a:prstGeom>
          <a:noFill/>
        </p:spPr>
        <p:txBody>
          <a:bodyPr wrap="square">
            <a:spAutoFit/>
          </a:bodyPr>
          <a:lstStyle/>
          <a:p>
            <a:pPr algn="l"/>
            <a:r>
              <a:rPr sz="800" b="0" i="0">
                <a:solidFill>
                  <a:srgbClr val="FFFFFF"/>
                </a:solidFill>
              </a:rPr>
              <a:t>Tempus Sales Copilot  ·  Confidential</a:t>
            </a:r>
          </a:p>
        </p:txBody>
      </p:sp>
      <p:sp>
        <p:nvSpPr>
          <p:cNvPr id="5" name="TextBox 4"/>
          <p:cNvSpPr txBox="1"/>
          <p:nvPr/>
        </p:nvSpPr>
        <p:spPr>
          <a:xfrm>
            <a:off x="11734495" y="6537960"/>
            <a:ext cx="320040" cy="274320"/>
          </a:xfrm>
          <a:prstGeom prst="rect">
            <a:avLst/>
          </a:prstGeom>
          <a:noFill/>
        </p:spPr>
        <p:txBody>
          <a:bodyPr wrap="square">
            <a:spAutoFit/>
          </a:bodyPr>
          <a:lstStyle/>
          <a:p>
            <a:pPr algn="r"/>
            <a:r>
              <a:rPr sz="900" b="0" i="0">
                <a:solidFill>
                  <a:srgbClr val="6B7280"/>
                </a:solidFill>
              </a:rPr>
              <a:t>4</a:t>
            </a:r>
          </a:p>
        </p:txBody>
      </p:sp>
      <p:sp>
        <p:nvSpPr>
          <p:cNvPr id="6" name="TextBox 5"/>
          <p:cNvSpPr txBox="1"/>
          <p:nvPr/>
        </p:nvSpPr>
        <p:spPr>
          <a:xfrm>
            <a:off x="274320" y="274320"/>
            <a:ext cx="3657600" cy="274320"/>
          </a:xfrm>
          <a:prstGeom prst="rect">
            <a:avLst/>
          </a:prstGeom>
          <a:noFill/>
        </p:spPr>
        <p:txBody>
          <a:bodyPr wrap="square">
            <a:spAutoFit/>
          </a:bodyPr>
          <a:lstStyle/>
          <a:p>
            <a:pPr algn="l"/>
            <a:r>
              <a:rPr sz="1000" b="1" i="0">
                <a:solidFill>
                  <a:srgbClr val="1D4ED8"/>
                </a:solidFill>
              </a:rPr>
              <a:t>THE SOLUTION</a:t>
            </a:r>
          </a:p>
        </p:txBody>
      </p:sp>
      <p:sp>
        <p:nvSpPr>
          <p:cNvPr id="7" name="TextBox 6"/>
          <p:cNvSpPr txBox="1"/>
          <p:nvPr/>
        </p:nvSpPr>
        <p:spPr>
          <a:xfrm>
            <a:off x="274320" y="594360"/>
            <a:ext cx="8229600" cy="640080"/>
          </a:xfrm>
          <a:prstGeom prst="rect">
            <a:avLst/>
          </a:prstGeom>
          <a:noFill/>
        </p:spPr>
        <p:txBody>
          <a:bodyPr wrap="square">
            <a:spAutoFit/>
          </a:bodyPr>
          <a:lstStyle/>
          <a:p>
            <a:pPr algn="l"/>
            <a:r>
              <a:rPr sz="3200" b="1" i="0">
                <a:solidFill>
                  <a:srgbClr val="111827"/>
                </a:solidFill>
              </a:rPr>
              <a:t>Three outputs. One tool.</a:t>
            </a:r>
          </a:p>
        </p:txBody>
      </p:sp>
      <p:sp>
        <p:nvSpPr>
          <p:cNvPr id="8" name="Rectangle 7"/>
          <p:cNvSpPr/>
          <p:nvPr/>
        </p:nvSpPr>
        <p:spPr>
          <a:xfrm>
            <a:off x="274320" y="1463040"/>
            <a:ext cx="3657600" cy="457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463040"/>
            <a:ext cx="365760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00200"/>
            <a:ext cx="731520" cy="411480"/>
          </a:xfrm>
          <a:prstGeom prst="rect">
            <a:avLst/>
          </a:prstGeom>
          <a:noFill/>
        </p:spPr>
        <p:txBody>
          <a:bodyPr wrap="square">
            <a:spAutoFit/>
          </a:bodyPr>
          <a:lstStyle/>
          <a:p>
            <a:pPr algn="l"/>
            <a:r>
              <a:rPr sz="2400" b="1" i="0">
                <a:solidFill>
                  <a:srgbClr val="1D4ED8"/>
                </a:solidFill>
              </a:rPr>
              <a:t>01</a:t>
            </a:r>
          </a:p>
        </p:txBody>
      </p:sp>
      <p:sp>
        <p:nvSpPr>
          <p:cNvPr id="11" name="TextBox 10"/>
          <p:cNvSpPr txBox="1"/>
          <p:nvPr/>
        </p:nvSpPr>
        <p:spPr>
          <a:xfrm>
            <a:off x="457200" y="2011680"/>
            <a:ext cx="3291840" cy="457200"/>
          </a:xfrm>
          <a:prstGeom prst="rect">
            <a:avLst/>
          </a:prstGeom>
          <a:noFill/>
        </p:spPr>
        <p:txBody>
          <a:bodyPr wrap="square">
            <a:spAutoFit/>
          </a:bodyPr>
          <a:lstStyle/>
          <a:p>
            <a:pPr algn="l"/>
            <a:r>
              <a:rPr sz="1700" b="1" i="0">
                <a:solidFill>
                  <a:srgbClr val="111827"/>
                </a:solidFill>
              </a:rPr>
              <a:t>Priority Rankings</a:t>
            </a:r>
          </a:p>
        </p:txBody>
      </p:sp>
      <p:sp>
        <p:nvSpPr>
          <p:cNvPr id="12" name="TextBox 11"/>
          <p:cNvSpPr txBox="1"/>
          <p:nvPr/>
        </p:nvSpPr>
        <p:spPr>
          <a:xfrm>
            <a:off x="457200" y="2514600"/>
            <a:ext cx="3291840" cy="2560320"/>
          </a:xfrm>
          <a:prstGeom prst="rect">
            <a:avLst/>
          </a:prstGeom>
          <a:noFill/>
        </p:spPr>
        <p:txBody>
          <a:bodyPr wrap="square">
            <a:spAutoFit/>
          </a:bodyPr>
          <a:lstStyle/>
          <a:p>
            <a:pPr algn="l"/>
            <a:r>
              <a:rPr sz="1200" b="0" i="0">
                <a:solidFill>
                  <a:srgbClr val="111827"/>
                </a:solidFill>
              </a:rPr>
              <a:t>Ranked provider list scored by:
• Patient volume (0.35×)
• Product-market fit (0.25×)
• Recency of last contact (0.20×)
• Objection resolvability (0.15×)
• Relationship warmth (0.05×)</a:t>
            </a:r>
          </a:p>
        </p:txBody>
      </p:sp>
      <p:sp>
        <p:nvSpPr>
          <p:cNvPr id="13" name="Rectangle 12"/>
          <p:cNvSpPr/>
          <p:nvPr/>
        </p:nvSpPr>
        <p:spPr>
          <a:xfrm>
            <a:off x="457200" y="5303520"/>
            <a:ext cx="3200400" cy="502920"/>
          </a:xfrm>
          <a:prstGeom prst="rect">
            <a:avLst/>
          </a:prstGeom>
          <a:solidFill>
            <a:srgbClr val="FFFF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76672"/>
            <a:ext cx="2926080" cy="365760"/>
          </a:xfrm>
          <a:prstGeom prst="rect">
            <a:avLst/>
          </a:prstGeom>
          <a:noFill/>
        </p:spPr>
        <p:txBody>
          <a:bodyPr wrap="square">
            <a:spAutoFit/>
          </a:bodyPr>
          <a:lstStyle/>
          <a:p>
            <a:pPr algn="l"/>
            <a:r>
              <a:rPr sz="1000" b="0" i="1">
                <a:solidFill>
                  <a:srgbClr val="1D4ED8"/>
                </a:solidFill>
              </a:rPr>
              <a:t>Deterministic code: auditable &amp; tunable</a:t>
            </a:r>
          </a:p>
        </p:txBody>
      </p:sp>
      <p:sp>
        <p:nvSpPr>
          <p:cNvPr id="15" name="Rectangle 14"/>
          <p:cNvSpPr/>
          <p:nvPr/>
        </p:nvSpPr>
        <p:spPr>
          <a:xfrm>
            <a:off x="4206240" y="1463040"/>
            <a:ext cx="3657600" cy="457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06240" y="1463040"/>
            <a:ext cx="365760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1600200"/>
            <a:ext cx="731520" cy="411480"/>
          </a:xfrm>
          <a:prstGeom prst="rect">
            <a:avLst/>
          </a:prstGeom>
          <a:noFill/>
        </p:spPr>
        <p:txBody>
          <a:bodyPr wrap="square">
            <a:spAutoFit/>
          </a:bodyPr>
          <a:lstStyle/>
          <a:p>
            <a:pPr algn="l"/>
            <a:r>
              <a:rPr sz="2400" b="1" i="0">
                <a:solidFill>
                  <a:srgbClr val="059669"/>
                </a:solidFill>
              </a:rPr>
              <a:t>02</a:t>
            </a:r>
          </a:p>
        </p:txBody>
      </p:sp>
      <p:sp>
        <p:nvSpPr>
          <p:cNvPr id="18" name="TextBox 17"/>
          <p:cNvSpPr txBox="1"/>
          <p:nvPr/>
        </p:nvSpPr>
        <p:spPr>
          <a:xfrm>
            <a:off x="4389120" y="2011680"/>
            <a:ext cx="3291840" cy="457200"/>
          </a:xfrm>
          <a:prstGeom prst="rect">
            <a:avLst/>
          </a:prstGeom>
          <a:noFill/>
        </p:spPr>
        <p:txBody>
          <a:bodyPr wrap="square">
            <a:spAutoFit/>
          </a:bodyPr>
          <a:lstStyle/>
          <a:p>
            <a:pPr algn="l"/>
            <a:r>
              <a:rPr sz="1700" b="1" i="0">
                <a:solidFill>
                  <a:srgbClr val="111827"/>
                </a:solidFill>
              </a:rPr>
              <a:t>Objection Handler</a:t>
            </a:r>
          </a:p>
        </p:txBody>
      </p:sp>
      <p:sp>
        <p:nvSpPr>
          <p:cNvPr id="19" name="TextBox 18"/>
          <p:cNvSpPr txBox="1"/>
          <p:nvPr/>
        </p:nvSpPr>
        <p:spPr>
          <a:xfrm>
            <a:off x="4389120" y="2514600"/>
            <a:ext cx="3291840" cy="2560320"/>
          </a:xfrm>
          <a:prstGeom prst="rect">
            <a:avLst/>
          </a:prstGeom>
          <a:noFill/>
        </p:spPr>
        <p:txBody>
          <a:bodyPr wrap="square">
            <a:spAutoFit/>
          </a:bodyPr>
          <a:lstStyle/>
          <a:p>
            <a:pPr algn="l"/>
            <a:r>
              <a:rPr sz="1200" b="0" i="0">
                <a:solidFill>
                  <a:srgbClr val="111827"/>
                </a:solidFill>
              </a:rPr>
              <a:t>Pre-drafted responses to every known concern:
• Grounded in real Tempus data
• Cites source document + study
• If KB has no answer → 'No verified data available'
• No hallucinations</a:t>
            </a:r>
          </a:p>
        </p:txBody>
      </p:sp>
      <p:sp>
        <p:nvSpPr>
          <p:cNvPr id="20" name="Rectangle 19"/>
          <p:cNvSpPr/>
          <p:nvPr/>
        </p:nvSpPr>
        <p:spPr>
          <a:xfrm>
            <a:off x="4389120" y="5303520"/>
            <a:ext cx="3200400" cy="502920"/>
          </a:xfrm>
          <a:prstGeom prst="rect">
            <a:avLst/>
          </a:prstGeom>
          <a:solidFill>
            <a:srgbClr val="FFFFFF"/>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5376672"/>
            <a:ext cx="2926080" cy="365760"/>
          </a:xfrm>
          <a:prstGeom prst="rect">
            <a:avLst/>
          </a:prstGeom>
          <a:noFill/>
        </p:spPr>
        <p:txBody>
          <a:bodyPr wrap="square">
            <a:spAutoFit/>
          </a:bodyPr>
          <a:lstStyle/>
          <a:p>
            <a:pPr algn="l"/>
            <a:r>
              <a:rPr sz="1000" b="0" i="1">
                <a:solidFill>
                  <a:srgbClr val="059669"/>
                </a:solidFill>
              </a:rPr>
              <a:t>RAG pipeline: retrieve + generate</a:t>
            </a:r>
          </a:p>
        </p:txBody>
      </p:sp>
      <p:sp>
        <p:nvSpPr>
          <p:cNvPr id="22" name="Rectangle 21"/>
          <p:cNvSpPr/>
          <p:nvPr/>
        </p:nvSpPr>
        <p:spPr>
          <a:xfrm>
            <a:off x="8138160" y="1463040"/>
            <a:ext cx="3657600" cy="457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0" y="1463040"/>
            <a:ext cx="36576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1600200"/>
            <a:ext cx="731520" cy="411480"/>
          </a:xfrm>
          <a:prstGeom prst="rect">
            <a:avLst/>
          </a:prstGeom>
          <a:noFill/>
        </p:spPr>
        <p:txBody>
          <a:bodyPr wrap="square">
            <a:spAutoFit/>
          </a:bodyPr>
          <a:lstStyle/>
          <a:p>
            <a:pPr algn="l"/>
            <a:r>
              <a:rPr sz="2400" b="1" i="0">
                <a:solidFill>
                  <a:srgbClr val="D97706"/>
                </a:solidFill>
              </a:rPr>
              <a:t>03</a:t>
            </a:r>
          </a:p>
        </p:txBody>
      </p:sp>
      <p:sp>
        <p:nvSpPr>
          <p:cNvPr id="25" name="TextBox 24"/>
          <p:cNvSpPr txBox="1"/>
          <p:nvPr/>
        </p:nvSpPr>
        <p:spPr>
          <a:xfrm>
            <a:off x="8321040" y="2011680"/>
            <a:ext cx="3291840" cy="457200"/>
          </a:xfrm>
          <a:prstGeom prst="rect">
            <a:avLst/>
          </a:prstGeom>
          <a:noFill/>
        </p:spPr>
        <p:txBody>
          <a:bodyPr wrap="square">
            <a:spAutoFit/>
          </a:bodyPr>
          <a:lstStyle/>
          <a:p>
            <a:pPr algn="l"/>
            <a:r>
              <a:rPr sz="1700" b="1" i="0">
                <a:solidFill>
                  <a:srgbClr val="111827"/>
                </a:solidFill>
              </a:rPr>
              <a:t>Meeting Script</a:t>
            </a:r>
          </a:p>
        </p:txBody>
      </p:sp>
      <p:sp>
        <p:nvSpPr>
          <p:cNvPr id="26" name="TextBox 25"/>
          <p:cNvSpPr txBox="1"/>
          <p:nvPr/>
        </p:nvSpPr>
        <p:spPr>
          <a:xfrm>
            <a:off x="8321040" y="2514600"/>
            <a:ext cx="3291840" cy="2560320"/>
          </a:xfrm>
          <a:prstGeom prst="rect">
            <a:avLst/>
          </a:prstGeom>
          <a:noFill/>
        </p:spPr>
        <p:txBody>
          <a:bodyPr wrap="square">
            <a:spAutoFit/>
          </a:bodyPr>
          <a:lstStyle/>
          <a:p>
            <a:pPr algn="l"/>
            <a:r>
              <a:rPr sz="1200" b="0" i="0">
                <a:solidFill>
                  <a:srgbClr val="111827"/>
                </a:solidFill>
              </a:rPr>
              <a:t>30-second elevator pitch per doctor:
• Names the specific Tempus product
• References their patient population
• Addresses their #1 interest
• Ends with clear call to action</a:t>
            </a:r>
          </a:p>
        </p:txBody>
      </p:sp>
      <p:sp>
        <p:nvSpPr>
          <p:cNvPr id="27" name="Rectangle 26"/>
          <p:cNvSpPr/>
          <p:nvPr/>
        </p:nvSpPr>
        <p:spPr>
          <a:xfrm>
            <a:off x="8321040" y="5303520"/>
            <a:ext cx="3200400" cy="502920"/>
          </a:xfrm>
          <a:prstGeom prst="rect">
            <a:avLst/>
          </a:prstGeom>
          <a:solidFill>
            <a:srgbClr val="FFFFFF"/>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5376672"/>
            <a:ext cx="2926080" cy="365760"/>
          </a:xfrm>
          <a:prstGeom prst="rect">
            <a:avLst/>
          </a:prstGeom>
          <a:noFill/>
        </p:spPr>
        <p:txBody>
          <a:bodyPr wrap="square">
            <a:spAutoFit/>
          </a:bodyPr>
          <a:lstStyle/>
          <a:p>
            <a:pPr algn="l"/>
            <a:r>
              <a:rPr sz="1000" b="0" i="1">
                <a:solidFill>
                  <a:srgbClr val="D97706"/>
                </a:solidFill>
              </a:rPr>
              <a:t>LLM + personalization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583680"/>
            <a:ext cx="11825935" cy="274320"/>
          </a:xfrm>
          <a:prstGeom prst="rect">
            <a:avLst/>
          </a:prstGeom>
          <a:noFill/>
        </p:spPr>
        <p:txBody>
          <a:bodyPr wrap="square">
            <a:spAutoFit/>
          </a:bodyPr>
          <a:lstStyle/>
          <a:p>
            <a:pPr algn="l"/>
            <a:r>
              <a:rPr sz="800" b="0" i="0">
                <a:solidFill>
                  <a:srgbClr val="FFFFFF"/>
                </a:solidFill>
              </a:rPr>
              <a:t>Tempus Sales Copilot  ·  Confidential</a:t>
            </a:r>
          </a:p>
        </p:txBody>
      </p:sp>
      <p:sp>
        <p:nvSpPr>
          <p:cNvPr id="5" name="TextBox 4"/>
          <p:cNvSpPr txBox="1"/>
          <p:nvPr/>
        </p:nvSpPr>
        <p:spPr>
          <a:xfrm>
            <a:off x="11734495" y="6537960"/>
            <a:ext cx="320040" cy="274320"/>
          </a:xfrm>
          <a:prstGeom prst="rect">
            <a:avLst/>
          </a:prstGeom>
          <a:noFill/>
        </p:spPr>
        <p:txBody>
          <a:bodyPr wrap="square">
            <a:spAutoFit/>
          </a:bodyPr>
          <a:lstStyle/>
          <a:p>
            <a:pPr algn="r"/>
            <a:r>
              <a:rPr sz="900" b="0" i="0">
                <a:solidFill>
                  <a:srgbClr val="6B7280"/>
                </a:solidFill>
              </a:rPr>
              <a:t>5</a:t>
            </a:r>
          </a:p>
        </p:txBody>
      </p:sp>
      <p:sp>
        <p:nvSpPr>
          <p:cNvPr id="6" name="TextBox 5"/>
          <p:cNvSpPr txBox="1"/>
          <p:nvPr/>
        </p:nvSpPr>
        <p:spPr>
          <a:xfrm>
            <a:off x="274320" y="274320"/>
            <a:ext cx="3657600" cy="274320"/>
          </a:xfrm>
          <a:prstGeom prst="rect">
            <a:avLst/>
          </a:prstGeom>
          <a:noFill/>
        </p:spPr>
        <p:txBody>
          <a:bodyPr wrap="square">
            <a:spAutoFit/>
          </a:bodyPr>
          <a:lstStyle/>
          <a:p>
            <a:pPr algn="l"/>
            <a:r>
              <a:rPr sz="1000" b="1" i="0">
                <a:solidFill>
                  <a:srgbClr val="1D4ED8"/>
                </a:solidFill>
              </a:rPr>
              <a:t>HOW IT WORKS</a:t>
            </a:r>
          </a:p>
        </p:txBody>
      </p:sp>
      <p:sp>
        <p:nvSpPr>
          <p:cNvPr id="7" name="TextBox 6"/>
          <p:cNvSpPr txBox="1"/>
          <p:nvPr/>
        </p:nvSpPr>
        <p:spPr>
          <a:xfrm>
            <a:off x="274320" y="594360"/>
            <a:ext cx="8229600" cy="548640"/>
          </a:xfrm>
          <a:prstGeom prst="rect">
            <a:avLst/>
          </a:prstGeom>
          <a:noFill/>
        </p:spPr>
        <p:txBody>
          <a:bodyPr wrap="square">
            <a:spAutoFit/>
          </a:bodyPr>
          <a:lstStyle/>
          <a:p>
            <a:pPr algn="l"/>
            <a:r>
              <a:rPr sz="3000" b="1" i="0">
                <a:solidFill>
                  <a:srgbClr val="111827"/>
                </a:solidFill>
              </a:rPr>
              <a:t>Input → Synthesize → Brief</a:t>
            </a:r>
          </a:p>
        </p:txBody>
      </p:sp>
      <p:sp>
        <p:nvSpPr>
          <p:cNvPr id="8" name="TextBox 7"/>
          <p:cNvSpPr txBox="1"/>
          <p:nvPr/>
        </p:nvSpPr>
        <p:spPr>
          <a:xfrm>
            <a:off x="457200" y="1417320"/>
            <a:ext cx="3200400" cy="274320"/>
          </a:xfrm>
          <a:prstGeom prst="rect">
            <a:avLst/>
          </a:prstGeom>
          <a:noFill/>
        </p:spPr>
        <p:txBody>
          <a:bodyPr wrap="square">
            <a:spAutoFit/>
          </a:bodyPr>
          <a:lstStyle/>
          <a:p>
            <a:pPr algn="l"/>
            <a:r>
              <a:rPr sz="900" b="1" i="0">
                <a:solidFill>
                  <a:srgbClr val="6B7280"/>
                </a:solidFill>
              </a:rPr>
              <a:t>DATA INPUTS</a:t>
            </a:r>
          </a:p>
        </p:txBody>
      </p:sp>
      <p:sp>
        <p:nvSpPr>
          <p:cNvPr id="9" name="Rectangle 8"/>
          <p:cNvSpPr/>
          <p:nvPr/>
        </p:nvSpPr>
        <p:spPr>
          <a:xfrm>
            <a:off x="274320" y="1737360"/>
            <a:ext cx="1508760" cy="100584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801368"/>
            <a:ext cx="1325880" cy="320040"/>
          </a:xfrm>
          <a:prstGeom prst="rect">
            <a:avLst/>
          </a:prstGeom>
          <a:noFill/>
        </p:spPr>
        <p:txBody>
          <a:bodyPr wrap="square">
            <a:spAutoFit/>
          </a:bodyPr>
          <a:lstStyle/>
          <a:p>
            <a:pPr algn="ctr"/>
            <a:r>
              <a:rPr sz="1000" b="1" i="0">
                <a:solidFill>
                  <a:srgbClr val="1D4ED8"/>
                </a:solidFill>
              </a:rPr>
              <a:t>Market Data CSV</a:t>
            </a:r>
          </a:p>
        </p:txBody>
      </p:sp>
      <p:sp>
        <p:nvSpPr>
          <p:cNvPr id="11" name="TextBox 10"/>
          <p:cNvSpPr txBox="1"/>
          <p:nvPr/>
        </p:nvSpPr>
        <p:spPr>
          <a:xfrm>
            <a:off x="365760" y="2103120"/>
            <a:ext cx="1325880" cy="548640"/>
          </a:xfrm>
          <a:prstGeom prst="rect">
            <a:avLst/>
          </a:prstGeom>
          <a:noFill/>
        </p:spPr>
        <p:txBody>
          <a:bodyPr wrap="square">
            <a:spAutoFit/>
          </a:bodyPr>
          <a:lstStyle/>
          <a:p>
            <a:pPr algn="ctr"/>
            <a:r>
              <a:rPr sz="900" b="0" i="0">
                <a:solidFill>
                  <a:srgbClr val="6B7280"/>
                </a:solidFill>
              </a:rPr>
              <a:t>Provider volume,
cancer types, vendors</a:t>
            </a:r>
          </a:p>
        </p:txBody>
      </p:sp>
      <p:sp>
        <p:nvSpPr>
          <p:cNvPr id="12" name="Rectangle 11"/>
          <p:cNvSpPr/>
          <p:nvPr/>
        </p:nvSpPr>
        <p:spPr>
          <a:xfrm>
            <a:off x="1965960" y="1737360"/>
            <a:ext cx="1508760" cy="100584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801368"/>
            <a:ext cx="1325880" cy="320040"/>
          </a:xfrm>
          <a:prstGeom prst="rect">
            <a:avLst/>
          </a:prstGeom>
          <a:noFill/>
        </p:spPr>
        <p:txBody>
          <a:bodyPr wrap="square">
            <a:spAutoFit/>
          </a:bodyPr>
          <a:lstStyle/>
          <a:p>
            <a:pPr algn="ctr"/>
            <a:r>
              <a:rPr sz="1000" b="1" i="0">
                <a:solidFill>
                  <a:srgbClr val="1D4ED8"/>
                </a:solidFill>
              </a:rPr>
              <a:t>CRM Notes JSON</a:t>
            </a:r>
          </a:p>
        </p:txBody>
      </p:sp>
      <p:sp>
        <p:nvSpPr>
          <p:cNvPr id="14" name="TextBox 13"/>
          <p:cNvSpPr txBox="1"/>
          <p:nvPr/>
        </p:nvSpPr>
        <p:spPr>
          <a:xfrm>
            <a:off x="2057400" y="2103120"/>
            <a:ext cx="1325880" cy="548640"/>
          </a:xfrm>
          <a:prstGeom prst="rect">
            <a:avLst/>
          </a:prstGeom>
          <a:noFill/>
        </p:spPr>
        <p:txBody>
          <a:bodyPr wrap="square">
            <a:spAutoFit/>
          </a:bodyPr>
          <a:lstStyle/>
          <a:p>
            <a:pPr algn="ctr"/>
            <a:r>
              <a:rPr sz="900" b="0" i="0">
                <a:solidFill>
                  <a:srgbClr val="6B7280"/>
                </a:solidFill>
              </a:rPr>
              <a:t>Objections, interests,
relationship stage</a:t>
            </a:r>
          </a:p>
        </p:txBody>
      </p:sp>
      <p:sp>
        <p:nvSpPr>
          <p:cNvPr id="15" name="Rectangle 14"/>
          <p:cNvSpPr/>
          <p:nvPr/>
        </p:nvSpPr>
        <p:spPr>
          <a:xfrm>
            <a:off x="3657600" y="1737360"/>
            <a:ext cx="1508760" cy="100584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801368"/>
            <a:ext cx="1325880" cy="320040"/>
          </a:xfrm>
          <a:prstGeom prst="rect">
            <a:avLst/>
          </a:prstGeom>
          <a:noFill/>
        </p:spPr>
        <p:txBody>
          <a:bodyPr wrap="square">
            <a:spAutoFit/>
          </a:bodyPr>
          <a:lstStyle/>
          <a:p>
            <a:pPr algn="ctr"/>
            <a:r>
              <a:rPr sz="1000" b="1" i="0">
                <a:solidFill>
                  <a:srgbClr val="1D4ED8"/>
                </a:solidFill>
              </a:rPr>
              <a:t>Product KB .md</a:t>
            </a:r>
          </a:p>
        </p:txBody>
      </p:sp>
      <p:sp>
        <p:nvSpPr>
          <p:cNvPr id="17" name="TextBox 16"/>
          <p:cNvSpPr txBox="1"/>
          <p:nvPr/>
        </p:nvSpPr>
        <p:spPr>
          <a:xfrm>
            <a:off x="3749040" y="2103120"/>
            <a:ext cx="1325880" cy="548640"/>
          </a:xfrm>
          <a:prstGeom prst="rect">
            <a:avLst/>
          </a:prstGeom>
          <a:noFill/>
        </p:spPr>
        <p:txBody>
          <a:bodyPr wrap="square">
            <a:spAutoFit/>
          </a:bodyPr>
          <a:lstStyle/>
          <a:p>
            <a:pPr algn="ctr"/>
            <a:r>
              <a:rPr sz="900" b="0" i="0">
                <a:solidFill>
                  <a:srgbClr val="6B7280"/>
                </a:solidFill>
              </a:rPr>
              <a:t>Tempus panel specs,
competitive advantages</a:t>
            </a:r>
          </a:p>
        </p:txBody>
      </p:sp>
      <p:sp>
        <p:nvSpPr>
          <p:cNvPr id="18" name="TextBox 17"/>
          <p:cNvSpPr txBox="1"/>
          <p:nvPr/>
        </p:nvSpPr>
        <p:spPr>
          <a:xfrm>
            <a:off x="2286000" y="2834640"/>
            <a:ext cx="457200" cy="365760"/>
          </a:xfrm>
          <a:prstGeom prst="rect">
            <a:avLst/>
          </a:prstGeom>
          <a:noFill/>
        </p:spPr>
        <p:txBody>
          <a:bodyPr wrap="square">
            <a:spAutoFit/>
          </a:bodyPr>
          <a:lstStyle/>
          <a:p>
            <a:pPr algn="ctr"/>
            <a:r>
              <a:rPr sz="2000" b="0" i="0">
                <a:solidFill>
                  <a:srgbClr val="1D4ED8"/>
                </a:solidFill>
              </a:rPr>
              <a:t>▼</a:t>
            </a:r>
          </a:p>
        </p:txBody>
      </p:sp>
      <p:sp>
        <p:nvSpPr>
          <p:cNvPr id="19" name="TextBox 18"/>
          <p:cNvSpPr txBox="1"/>
          <p:nvPr/>
        </p:nvSpPr>
        <p:spPr>
          <a:xfrm>
            <a:off x="457200" y="3200400"/>
            <a:ext cx="3200400" cy="274320"/>
          </a:xfrm>
          <a:prstGeom prst="rect">
            <a:avLst/>
          </a:prstGeom>
          <a:noFill/>
        </p:spPr>
        <p:txBody>
          <a:bodyPr wrap="square">
            <a:spAutoFit/>
          </a:bodyPr>
          <a:lstStyle/>
          <a:p>
            <a:pPr algn="l"/>
            <a:r>
              <a:rPr sz="900" b="1" i="0">
                <a:solidFill>
                  <a:srgbClr val="6B7280"/>
                </a:solidFill>
              </a:rPr>
              <a:t>PROCESSING</a:t>
            </a:r>
          </a:p>
        </p:txBody>
      </p:sp>
      <p:sp>
        <p:nvSpPr>
          <p:cNvPr id="20" name="Rectangle 19"/>
          <p:cNvSpPr/>
          <p:nvPr/>
        </p:nvSpPr>
        <p:spPr>
          <a:xfrm>
            <a:off x="274320" y="3474720"/>
            <a:ext cx="2286000" cy="11887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538728"/>
            <a:ext cx="2103120" cy="320040"/>
          </a:xfrm>
          <a:prstGeom prst="rect">
            <a:avLst/>
          </a:prstGeom>
          <a:noFill/>
        </p:spPr>
        <p:txBody>
          <a:bodyPr wrap="square">
            <a:spAutoFit/>
          </a:bodyPr>
          <a:lstStyle/>
          <a:p>
            <a:pPr algn="ctr"/>
            <a:r>
              <a:rPr sz="1100" b="1" i="0">
                <a:solidFill>
                  <a:srgbClr val="FFFFFF"/>
                </a:solidFill>
              </a:rPr>
              <a:t>Scoring Engine</a:t>
            </a:r>
          </a:p>
        </p:txBody>
      </p:sp>
      <p:sp>
        <p:nvSpPr>
          <p:cNvPr id="22" name="TextBox 21"/>
          <p:cNvSpPr txBox="1"/>
          <p:nvPr/>
        </p:nvSpPr>
        <p:spPr>
          <a:xfrm>
            <a:off x="365760" y="3886200"/>
            <a:ext cx="2103120" cy="685800"/>
          </a:xfrm>
          <a:prstGeom prst="rect">
            <a:avLst/>
          </a:prstGeom>
          <a:noFill/>
        </p:spPr>
        <p:txBody>
          <a:bodyPr wrap="square">
            <a:spAutoFit/>
          </a:bodyPr>
          <a:lstStyle/>
          <a:p>
            <a:pPr algn="ctr"/>
            <a:r>
              <a:rPr sz="900" b="0" i="0">
                <a:solidFill>
                  <a:srgbClr val="BFDBFE"/>
                </a:solidFill>
              </a:rPr>
              <a:t>Deterministic code
0.35×vol + 0.25×fit
+ 0.20×recency…</a:t>
            </a:r>
          </a:p>
        </p:txBody>
      </p:sp>
      <p:sp>
        <p:nvSpPr>
          <p:cNvPr id="23" name="Rectangle 22"/>
          <p:cNvSpPr/>
          <p:nvPr/>
        </p:nvSpPr>
        <p:spPr>
          <a:xfrm>
            <a:off x="2834639" y="3474720"/>
            <a:ext cx="2286000" cy="1188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79" y="3538728"/>
            <a:ext cx="2103120" cy="320040"/>
          </a:xfrm>
          <a:prstGeom prst="rect">
            <a:avLst/>
          </a:prstGeom>
          <a:noFill/>
        </p:spPr>
        <p:txBody>
          <a:bodyPr wrap="square">
            <a:spAutoFit/>
          </a:bodyPr>
          <a:lstStyle/>
          <a:p>
            <a:pPr algn="ctr"/>
            <a:r>
              <a:rPr sz="1100" b="1" i="0">
                <a:solidFill>
                  <a:srgbClr val="FFFFFF"/>
                </a:solidFill>
              </a:rPr>
              <a:t>RAG Pipeline</a:t>
            </a:r>
          </a:p>
        </p:txBody>
      </p:sp>
      <p:sp>
        <p:nvSpPr>
          <p:cNvPr id="25" name="TextBox 24"/>
          <p:cNvSpPr txBox="1"/>
          <p:nvPr/>
        </p:nvSpPr>
        <p:spPr>
          <a:xfrm>
            <a:off x="2926079" y="3886200"/>
            <a:ext cx="2103120" cy="685800"/>
          </a:xfrm>
          <a:prstGeom prst="rect">
            <a:avLst/>
          </a:prstGeom>
          <a:noFill/>
        </p:spPr>
        <p:txBody>
          <a:bodyPr wrap="square">
            <a:spAutoFit/>
          </a:bodyPr>
          <a:lstStyle/>
          <a:p>
            <a:pPr algn="ctr"/>
            <a:r>
              <a:rPr sz="900" b="0" i="0">
                <a:solidFill>
                  <a:srgbClr val="BFDBFE"/>
                </a:solidFill>
              </a:rPr>
              <a:t>Embed KB chunks
Retrieve top-3
Generate response</a:t>
            </a:r>
          </a:p>
        </p:txBody>
      </p:sp>
      <p:sp>
        <p:nvSpPr>
          <p:cNvPr id="26" name="Rectangle 25"/>
          <p:cNvSpPr/>
          <p:nvPr/>
        </p:nvSpPr>
        <p:spPr>
          <a:xfrm>
            <a:off x="274320" y="4800600"/>
            <a:ext cx="4663440" cy="594360"/>
          </a:xfrm>
          <a:prstGeom prst="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892040"/>
            <a:ext cx="4389120" cy="411480"/>
          </a:xfrm>
          <a:prstGeom prst="rect">
            <a:avLst/>
          </a:prstGeom>
          <a:noFill/>
        </p:spPr>
        <p:txBody>
          <a:bodyPr wrap="square">
            <a:spAutoFit/>
          </a:bodyPr>
          <a:lstStyle/>
          <a:p>
            <a:pPr algn="ctr"/>
            <a:r>
              <a:rPr sz="900" b="0" i="1">
                <a:solidFill>
                  <a:srgbClr val="6B7280"/>
                </a:solidFill>
              </a:rPr>
              <a:t>LLM API (GPT-4o-mini or Claude Haiku)  ·  sentence-transformers (all-MiniLM-L6-v2)  ·  numpy cosine similarity</a:t>
            </a:r>
          </a:p>
        </p:txBody>
      </p:sp>
      <p:sp>
        <p:nvSpPr>
          <p:cNvPr id="28" name="Rectangle 27"/>
          <p:cNvSpPr/>
          <p:nvPr/>
        </p:nvSpPr>
        <p:spPr>
          <a:xfrm>
            <a:off x="5669280" y="1371600"/>
            <a:ext cx="6217920" cy="4846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0" y="1554480"/>
            <a:ext cx="5486400" cy="274320"/>
          </a:xfrm>
          <a:prstGeom prst="rect">
            <a:avLst/>
          </a:prstGeom>
          <a:noFill/>
        </p:spPr>
        <p:txBody>
          <a:bodyPr wrap="square">
            <a:spAutoFit/>
          </a:bodyPr>
          <a:lstStyle/>
          <a:p>
            <a:pPr algn="l"/>
            <a:r>
              <a:rPr sz="900" b="1" i="0">
                <a:solidFill>
                  <a:srgbClr val="6B7280"/>
                </a:solidFill>
              </a:rPr>
              <a:t>WHAT THE REP SEES</a:t>
            </a:r>
          </a:p>
        </p:txBody>
      </p:sp>
      <p:sp>
        <p:nvSpPr>
          <p:cNvPr id="30" name="Rectangle 29"/>
          <p:cNvSpPr/>
          <p:nvPr/>
        </p:nvSpPr>
        <p:spPr>
          <a:xfrm>
            <a:off x="5852160" y="1920240"/>
            <a:ext cx="54864" cy="1005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0" y="1965960"/>
            <a:ext cx="5486400" cy="320040"/>
          </a:xfrm>
          <a:prstGeom prst="rect">
            <a:avLst/>
          </a:prstGeom>
          <a:noFill/>
        </p:spPr>
        <p:txBody>
          <a:bodyPr wrap="square">
            <a:spAutoFit/>
          </a:bodyPr>
          <a:lstStyle/>
          <a:p>
            <a:pPr algn="l"/>
            <a:r>
              <a:rPr sz="1200" b="1" i="0">
                <a:solidFill>
                  <a:srgbClr val="1D4ED8"/>
                </a:solidFill>
              </a:rPr>
              <a:t>🏆  Ranked Provider List</a:t>
            </a:r>
          </a:p>
        </p:txBody>
      </p:sp>
      <p:sp>
        <p:nvSpPr>
          <p:cNvPr id="32" name="TextBox 31"/>
          <p:cNvSpPr txBox="1"/>
          <p:nvPr/>
        </p:nvSpPr>
        <p:spPr>
          <a:xfrm>
            <a:off x="6035040" y="2286000"/>
            <a:ext cx="5486400" cy="640080"/>
          </a:xfrm>
          <a:prstGeom prst="rect">
            <a:avLst/>
          </a:prstGeom>
          <a:noFill/>
        </p:spPr>
        <p:txBody>
          <a:bodyPr wrap="square">
            <a:spAutoFit/>
          </a:bodyPr>
          <a:lstStyle/>
          <a:p>
            <a:pPr algn="l"/>
            <a:r>
              <a:rPr sz="1100" b="0" i="0">
                <a:solidFill>
                  <a:srgbClr val="111827"/>
                </a:solidFill>
              </a:rPr>
              <a:t>10 providers sorted by priority score. Filters by stage (active/warm/cold). Score formula visible and explainable.</a:t>
            </a:r>
          </a:p>
        </p:txBody>
      </p:sp>
      <p:sp>
        <p:nvSpPr>
          <p:cNvPr id="33" name="Rectangle 32"/>
          <p:cNvSpPr/>
          <p:nvPr/>
        </p:nvSpPr>
        <p:spPr>
          <a:xfrm>
            <a:off x="5852160" y="3291840"/>
            <a:ext cx="54864"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3337560"/>
            <a:ext cx="5486400" cy="320040"/>
          </a:xfrm>
          <a:prstGeom prst="rect">
            <a:avLst/>
          </a:prstGeom>
          <a:noFill/>
        </p:spPr>
        <p:txBody>
          <a:bodyPr wrap="square">
            <a:spAutoFit/>
          </a:bodyPr>
          <a:lstStyle/>
          <a:p>
            <a:pPr algn="l"/>
            <a:r>
              <a:rPr sz="1200" b="1" i="0">
                <a:solidFill>
                  <a:srgbClr val="D97706"/>
                </a:solidFill>
              </a:rPr>
              <a:t>⚠  Objection Handler</a:t>
            </a:r>
          </a:p>
        </p:txBody>
      </p:sp>
      <p:sp>
        <p:nvSpPr>
          <p:cNvPr id="35" name="TextBox 34"/>
          <p:cNvSpPr txBox="1"/>
          <p:nvPr/>
        </p:nvSpPr>
        <p:spPr>
          <a:xfrm>
            <a:off x="6035040" y="3657600"/>
            <a:ext cx="5486400" cy="640080"/>
          </a:xfrm>
          <a:prstGeom prst="rect">
            <a:avLst/>
          </a:prstGeom>
          <a:noFill/>
        </p:spPr>
        <p:txBody>
          <a:bodyPr wrap="square">
            <a:spAutoFit/>
          </a:bodyPr>
          <a:lstStyle/>
          <a:p>
            <a:pPr algn="l"/>
            <a:r>
              <a:rPr sz="1100" b="0" i="0">
                <a:solidFill>
                  <a:srgbClr val="111827"/>
                </a:solidFill>
              </a:rPr>
              <a:t>Every known concern pre-addressed with Tempus-specific data. Source citations inline. 'No verified data available' when KB has no answer.</a:t>
            </a:r>
          </a:p>
        </p:txBody>
      </p:sp>
      <p:sp>
        <p:nvSpPr>
          <p:cNvPr id="36" name="Rectangle 35"/>
          <p:cNvSpPr/>
          <p:nvPr/>
        </p:nvSpPr>
        <p:spPr>
          <a:xfrm>
            <a:off x="5852160" y="4663440"/>
            <a:ext cx="54864" cy="10058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4709160"/>
            <a:ext cx="5486400" cy="320040"/>
          </a:xfrm>
          <a:prstGeom prst="rect">
            <a:avLst/>
          </a:prstGeom>
          <a:noFill/>
        </p:spPr>
        <p:txBody>
          <a:bodyPr wrap="square">
            <a:spAutoFit/>
          </a:bodyPr>
          <a:lstStyle/>
          <a:p>
            <a:pPr algn="l"/>
            <a:r>
              <a:rPr sz="1200" b="1" i="0">
                <a:solidFill>
                  <a:srgbClr val="059669"/>
                </a:solidFill>
              </a:rPr>
              <a:t>💬  Meeting Script</a:t>
            </a:r>
          </a:p>
        </p:txBody>
      </p:sp>
      <p:sp>
        <p:nvSpPr>
          <p:cNvPr id="38" name="TextBox 37"/>
          <p:cNvSpPr txBox="1"/>
          <p:nvPr/>
        </p:nvSpPr>
        <p:spPr>
          <a:xfrm>
            <a:off x="6035040" y="5029200"/>
            <a:ext cx="5486400" cy="640080"/>
          </a:xfrm>
          <a:prstGeom prst="rect">
            <a:avLst/>
          </a:prstGeom>
          <a:noFill/>
        </p:spPr>
        <p:txBody>
          <a:bodyPr wrap="square">
            <a:spAutoFit/>
          </a:bodyPr>
          <a:lstStyle/>
          <a:p>
            <a:pPr algn="l"/>
            <a:r>
              <a:rPr sz="1100" b="0" i="0">
                <a:solidFill>
                  <a:srgbClr val="111827"/>
                </a:solidFill>
              </a:rPr>
              <a:t>30-second pitch: names the product, references the doctor's specialty, ends with CTA. Demo fallbacks ensure the app always 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583680"/>
            <a:ext cx="11825935" cy="274320"/>
          </a:xfrm>
          <a:prstGeom prst="rect">
            <a:avLst/>
          </a:prstGeom>
          <a:noFill/>
        </p:spPr>
        <p:txBody>
          <a:bodyPr wrap="square">
            <a:spAutoFit/>
          </a:bodyPr>
          <a:lstStyle/>
          <a:p>
            <a:pPr algn="l"/>
            <a:r>
              <a:rPr sz="800" b="0" i="0">
                <a:solidFill>
                  <a:srgbClr val="FFFFFF"/>
                </a:solidFill>
              </a:rPr>
              <a:t>Tempus Sales Copilot  ·  Confidential</a:t>
            </a:r>
          </a:p>
        </p:txBody>
      </p:sp>
      <p:sp>
        <p:nvSpPr>
          <p:cNvPr id="5" name="TextBox 4"/>
          <p:cNvSpPr txBox="1"/>
          <p:nvPr/>
        </p:nvSpPr>
        <p:spPr>
          <a:xfrm>
            <a:off x="11734495" y="6537960"/>
            <a:ext cx="320040" cy="274320"/>
          </a:xfrm>
          <a:prstGeom prst="rect">
            <a:avLst/>
          </a:prstGeom>
          <a:noFill/>
        </p:spPr>
        <p:txBody>
          <a:bodyPr wrap="square">
            <a:spAutoFit/>
          </a:bodyPr>
          <a:lstStyle/>
          <a:p>
            <a:pPr algn="r"/>
            <a:r>
              <a:rPr sz="900" b="0" i="0">
                <a:solidFill>
                  <a:srgbClr val="6B7280"/>
                </a:solidFill>
              </a:rPr>
              <a:t>6</a:t>
            </a:r>
          </a:p>
        </p:txBody>
      </p:sp>
      <p:sp>
        <p:nvSpPr>
          <p:cNvPr id="6" name="TextBox 5"/>
          <p:cNvSpPr txBox="1"/>
          <p:nvPr/>
        </p:nvSpPr>
        <p:spPr>
          <a:xfrm>
            <a:off x="274320" y="274320"/>
            <a:ext cx="4572000" cy="274320"/>
          </a:xfrm>
          <a:prstGeom prst="rect">
            <a:avLst/>
          </a:prstGeom>
          <a:noFill/>
        </p:spPr>
        <p:txBody>
          <a:bodyPr wrap="square">
            <a:spAutoFit/>
          </a:bodyPr>
          <a:lstStyle/>
          <a:p>
            <a:pPr algn="l"/>
            <a:r>
              <a:rPr sz="1000" b="1" i="0">
                <a:solidFill>
                  <a:srgbClr val="059669"/>
                </a:solidFill>
              </a:rPr>
              <a:t>PROTOTYPE DEMO</a:t>
            </a:r>
          </a:p>
        </p:txBody>
      </p:sp>
      <p:sp>
        <p:nvSpPr>
          <p:cNvPr id="7" name="TextBox 6"/>
          <p:cNvSpPr txBox="1"/>
          <p:nvPr/>
        </p:nvSpPr>
        <p:spPr>
          <a:xfrm>
            <a:off x="274320" y="594360"/>
            <a:ext cx="8229600" cy="548640"/>
          </a:xfrm>
          <a:prstGeom prst="rect">
            <a:avLst/>
          </a:prstGeom>
          <a:noFill/>
        </p:spPr>
        <p:txBody>
          <a:bodyPr wrap="square">
            <a:spAutoFit/>
          </a:bodyPr>
          <a:lstStyle/>
          <a:p>
            <a:pPr algn="l"/>
            <a:r>
              <a:rPr sz="3000" b="1" i="0">
                <a:solidFill>
                  <a:srgbClr val="111827"/>
                </a:solidFill>
              </a:rPr>
              <a:t>What the rep sees in the app</a:t>
            </a:r>
          </a:p>
        </p:txBody>
      </p:sp>
      <p:sp>
        <p:nvSpPr>
          <p:cNvPr id="8" name="Rectangle 7"/>
          <p:cNvSpPr/>
          <p:nvPr/>
        </p:nvSpPr>
        <p:spPr>
          <a:xfrm>
            <a:off x="274320" y="1371600"/>
            <a:ext cx="4114800" cy="502920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3840480" cy="274320"/>
          </a:xfrm>
          <a:prstGeom prst="rect">
            <a:avLst/>
          </a:prstGeom>
          <a:noFill/>
        </p:spPr>
        <p:txBody>
          <a:bodyPr wrap="square">
            <a:spAutoFit/>
          </a:bodyPr>
          <a:lstStyle/>
          <a:p>
            <a:pPr algn="l"/>
            <a:r>
              <a:rPr sz="900" b="0" i="0">
                <a:solidFill>
                  <a:srgbClr val="6B7280"/>
                </a:solidFill>
              </a:rPr>
              <a:t>Priority Rankings · 10 providers</a:t>
            </a:r>
          </a:p>
        </p:txBody>
      </p:sp>
      <p:sp>
        <p:nvSpPr>
          <p:cNvPr id="10" name="Rectangle 9"/>
          <p:cNvSpPr/>
          <p:nvPr/>
        </p:nvSpPr>
        <p:spPr>
          <a:xfrm>
            <a:off x="365760" y="1828800"/>
            <a:ext cx="3931920" cy="73152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965960"/>
            <a:ext cx="274320" cy="457200"/>
          </a:xfrm>
          <a:prstGeom prst="rect">
            <a:avLst/>
          </a:prstGeom>
          <a:noFill/>
        </p:spPr>
        <p:txBody>
          <a:bodyPr wrap="square">
            <a:spAutoFit/>
          </a:bodyPr>
          <a:lstStyle/>
          <a:p>
            <a:pPr algn="ctr"/>
            <a:r>
              <a:rPr sz="1100" b="1" i="0">
                <a:solidFill>
                  <a:srgbClr val="6B7280"/>
                </a:solidFill>
              </a:rPr>
              <a:t>1</a:t>
            </a:r>
          </a:p>
        </p:txBody>
      </p:sp>
      <p:sp>
        <p:nvSpPr>
          <p:cNvPr id="12" name="TextBox 11"/>
          <p:cNvSpPr txBox="1"/>
          <p:nvPr/>
        </p:nvSpPr>
        <p:spPr>
          <a:xfrm>
            <a:off x="822960" y="1874520"/>
            <a:ext cx="2286000" cy="320040"/>
          </a:xfrm>
          <a:prstGeom prst="rect">
            <a:avLst/>
          </a:prstGeom>
          <a:noFill/>
        </p:spPr>
        <p:txBody>
          <a:bodyPr wrap="square">
            <a:spAutoFit/>
          </a:bodyPr>
          <a:lstStyle/>
          <a:p>
            <a:pPr algn="l"/>
            <a:r>
              <a:rPr sz="1100" b="1" i="0">
                <a:solidFill>
                  <a:srgbClr val="111827"/>
                </a:solidFill>
              </a:rPr>
              <a:t>Dr. Mei-Lin Zhao</a:t>
            </a:r>
          </a:p>
        </p:txBody>
      </p:sp>
      <p:sp>
        <p:nvSpPr>
          <p:cNvPr id="13" name="TextBox 12"/>
          <p:cNvSpPr txBox="1"/>
          <p:nvPr/>
        </p:nvSpPr>
        <p:spPr>
          <a:xfrm>
            <a:off x="822960" y="2194560"/>
            <a:ext cx="2286000" cy="274320"/>
          </a:xfrm>
          <a:prstGeom prst="rect">
            <a:avLst/>
          </a:prstGeom>
          <a:noFill/>
        </p:spPr>
        <p:txBody>
          <a:bodyPr wrap="square">
            <a:spAutoFit/>
          </a:bodyPr>
          <a:lstStyle/>
          <a:p>
            <a:pPr algn="l"/>
            <a:r>
              <a:rPr sz="900" b="0" i="0">
                <a:solidFill>
                  <a:srgbClr val="6B7280"/>
                </a:solidFill>
              </a:rPr>
              <a:t>Thoracic · 420 pts</a:t>
            </a:r>
          </a:p>
        </p:txBody>
      </p:sp>
      <p:sp>
        <p:nvSpPr>
          <p:cNvPr id="14" name="TextBox 13"/>
          <p:cNvSpPr txBox="1"/>
          <p:nvPr/>
        </p:nvSpPr>
        <p:spPr>
          <a:xfrm>
            <a:off x="3657600" y="1965960"/>
            <a:ext cx="548640" cy="457200"/>
          </a:xfrm>
          <a:prstGeom prst="rect">
            <a:avLst/>
          </a:prstGeom>
          <a:noFill/>
        </p:spPr>
        <p:txBody>
          <a:bodyPr wrap="square">
            <a:spAutoFit/>
          </a:bodyPr>
          <a:lstStyle/>
          <a:p>
            <a:pPr algn="ctr"/>
            <a:r>
              <a:rPr sz="1600" b="1" i="0">
                <a:solidFill>
                  <a:srgbClr val="1D4ED8"/>
                </a:solidFill>
              </a:rPr>
              <a:t>95</a:t>
            </a:r>
          </a:p>
        </p:txBody>
      </p:sp>
      <p:sp>
        <p:nvSpPr>
          <p:cNvPr id="15" name="Rectangle 14"/>
          <p:cNvSpPr/>
          <p:nvPr/>
        </p:nvSpPr>
        <p:spPr>
          <a:xfrm>
            <a:off x="365760" y="2651760"/>
            <a:ext cx="3931920" cy="7315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788920"/>
            <a:ext cx="274320" cy="457200"/>
          </a:xfrm>
          <a:prstGeom prst="rect">
            <a:avLst/>
          </a:prstGeom>
          <a:noFill/>
        </p:spPr>
        <p:txBody>
          <a:bodyPr wrap="square">
            <a:spAutoFit/>
          </a:bodyPr>
          <a:lstStyle/>
          <a:p>
            <a:pPr algn="ctr"/>
            <a:r>
              <a:rPr sz="1100" b="1" i="0">
                <a:solidFill>
                  <a:srgbClr val="6B7280"/>
                </a:solidFill>
              </a:rPr>
              <a:t>2</a:t>
            </a:r>
          </a:p>
        </p:txBody>
      </p:sp>
      <p:sp>
        <p:nvSpPr>
          <p:cNvPr id="17" name="TextBox 16"/>
          <p:cNvSpPr txBox="1"/>
          <p:nvPr/>
        </p:nvSpPr>
        <p:spPr>
          <a:xfrm>
            <a:off x="822960" y="2697480"/>
            <a:ext cx="2286000" cy="320040"/>
          </a:xfrm>
          <a:prstGeom prst="rect">
            <a:avLst/>
          </a:prstGeom>
          <a:noFill/>
        </p:spPr>
        <p:txBody>
          <a:bodyPr wrap="square">
            <a:spAutoFit/>
          </a:bodyPr>
          <a:lstStyle/>
          <a:p>
            <a:pPr algn="l"/>
            <a:r>
              <a:rPr sz="1100" b="0" i="0">
                <a:solidFill>
                  <a:srgbClr val="111827"/>
                </a:solidFill>
              </a:rPr>
              <a:t>Dr. Sarah Chen</a:t>
            </a:r>
          </a:p>
        </p:txBody>
      </p:sp>
      <p:sp>
        <p:nvSpPr>
          <p:cNvPr id="18" name="TextBox 17"/>
          <p:cNvSpPr txBox="1"/>
          <p:nvPr/>
        </p:nvSpPr>
        <p:spPr>
          <a:xfrm>
            <a:off x="822960" y="3017520"/>
            <a:ext cx="2286000" cy="274320"/>
          </a:xfrm>
          <a:prstGeom prst="rect">
            <a:avLst/>
          </a:prstGeom>
          <a:noFill/>
        </p:spPr>
        <p:txBody>
          <a:bodyPr wrap="square">
            <a:spAutoFit/>
          </a:bodyPr>
          <a:lstStyle/>
          <a:p>
            <a:pPr algn="l"/>
            <a:r>
              <a:rPr sz="900" b="0" i="0">
                <a:solidFill>
                  <a:srgbClr val="6B7280"/>
                </a:solidFill>
              </a:rPr>
              <a:t>Breast · 320 pts</a:t>
            </a:r>
          </a:p>
        </p:txBody>
      </p:sp>
      <p:sp>
        <p:nvSpPr>
          <p:cNvPr id="19" name="TextBox 18"/>
          <p:cNvSpPr txBox="1"/>
          <p:nvPr/>
        </p:nvSpPr>
        <p:spPr>
          <a:xfrm>
            <a:off x="3657600" y="2788920"/>
            <a:ext cx="548640" cy="457200"/>
          </a:xfrm>
          <a:prstGeom prst="rect">
            <a:avLst/>
          </a:prstGeom>
          <a:noFill/>
        </p:spPr>
        <p:txBody>
          <a:bodyPr wrap="square">
            <a:spAutoFit/>
          </a:bodyPr>
          <a:lstStyle/>
          <a:p>
            <a:pPr algn="ctr"/>
            <a:r>
              <a:rPr sz="1600" b="1" i="0">
                <a:solidFill>
                  <a:srgbClr val="1D4ED8"/>
                </a:solidFill>
              </a:rPr>
              <a:t>88</a:t>
            </a:r>
          </a:p>
        </p:txBody>
      </p:sp>
      <p:sp>
        <p:nvSpPr>
          <p:cNvPr id="20" name="Rectangle 19"/>
          <p:cNvSpPr/>
          <p:nvPr/>
        </p:nvSpPr>
        <p:spPr>
          <a:xfrm>
            <a:off x="365760" y="3474720"/>
            <a:ext cx="3931920" cy="7315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11880"/>
            <a:ext cx="274320" cy="457200"/>
          </a:xfrm>
          <a:prstGeom prst="rect">
            <a:avLst/>
          </a:prstGeom>
          <a:noFill/>
        </p:spPr>
        <p:txBody>
          <a:bodyPr wrap="square">
            <a:spAutoFit/>
          </a:bodyPr>
          <a:lstStyle/>
          <a:p>
            <a:pPr algn="ctr"/>
            <a:r>
              <a:rPr sz="1100" b="1" i="0">
                <a:solidFill>
                  <a:srgbClr val="6B7280"/>
                </a:solidFill>
              </a:rPr>
              <a:t>3</a:t>
            </a:r>
          </a:p>
        </p:txBody>
      </p:sp>
      <p:sp>
        <p:nvSpPr>
          <p:cNvPr id="22" name="TextBox 21"/>
          <p:cNvSpPr txBox="1"/>
          <p:nvPr/>
        </p:nvSpPr>
        <p:spPr>
          <a:xfrm>
            <a:off x="822960" y="3520440"/>
            <a:ext cx="2286000" cy="320040"/>
          </a:xfrm>
          <a:prstGeom prst="rect">
            <a:avLst/>
          </a:prstGeom>
          <a:noFill/>
        </p:spPr>
        <p:txBody>
          <a:bodyPr wrap="square">
            <a:spAutoFit/>
          </a:bodyPr>
          <a:lstStyle/>
          <a:p>
            <a:pPr algn="l"/>
            <a:r>
              <a:rPr sz="1100" b="0" i="0">
                <a:solidFill>
                  <a:srgbClr val="111827"/>
                </a:solidFill>
              </a:rPr>
              <a:t>Dr. Aisha Thompson</a:t>
            </a:r>
          </a:p>
        </p:txBody>
      </p:sp>
      <p:sp>
        <p:nvSpPr>
          <p:cNvPr id="23" name="TextBox 22"/>
          <p:cNvSpPr txBox="1"/>
          <p:nvPr/>
        </p:nvSpPr>
        <p:spPr>
          <a:xfrm>
            <a:off x="822960" y="3840480"/>
            <a:ext cx="2286000" cy="274320"/>
          </a:xfrm>
          <a:prstGeom prst="rect">
            <a:avLst/>
          </a:prstGeom>
          <a:noFill/>
        </p:spPr>
        <p:txBody>
          <a:bodyPr wrap="square">
            <a:spAutoFit/>
          </a:bodyPr>
          <a:lstStyle/>
          <a:p>
            <a:pPr algn="l"/>
            <a:r>
              <a:rPr sz="900" b="0" i="0">
                <a:solidFill>
                  <a:srgbClr val="6B7280"/>
                </a:solidFill>
              </a:rPr>
              <a:t>Heme · 210 pts</a:t>
            </a:r>
          </a:p>
        </p:txBody>
      </p:sp>
      <p:sp>
        <p:nvSpPr>
          <p:cNvPr id="24" name="TextBox 23"/>
          <p:cNvSpPr txBox="1"/>
          <p:nvPr/>
        </p:nvSpPr>
        <p:spPr>
          <a:xfrm>
            <a:off x="3657600" y="3611880"/>
            <a:ext cx="548640" cy="457200"/>
          </a:xfrm>
          <a:prstGeom prst="rect">
            <a:avLst/>
          </a:prstGeom>
          <a:noFill/>
        </p:spPr>
        <p:txBody>
          <a:bodyPr wrap="square">
            <a:spAutoFit/>
          </a:bodyPr>
          <a:lstStyle/>
          <a:p>
            <a:pPr algn="ctr"/>
            <a:r>
              <a:rPr sz="1600" b="1" i="0">
                <a:solidFill>
                  <a:srgbClr val="059669"/>
                </a:solidFill>
              </a:rPr>
              <a:t>82</a:t>
            </a:r>
          </a:p>
        </p:txBody>
      </p:sp>
      <p:sp>
        <p:nvSpPr>
          <p:cNvPr id="25" name="Rectangle 24"/>
          <p:cNvSpPr/>
          <p:nvPr/>
        </p:nvSpPr>
        <p:spPr>
          <a:xfrm>
            <a:off x="365760" y="4297680"/>
            <a:ext cx="3931920" cy="7315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434840"/>
            <a:ext cx="274320" cy="457200"/>
          </a:xfrm>
          <a:prstGeom prst="rect">
            <a:avLst/>
          </a:prstGeom>
          <a:noFill/>
        </p:spPr>
        <p:txBody>
          <a:bodyPr wrap="square">
            <a:spAutoFit/>
          </a:bodyPr>
          <a:lstStyle/>
          <a:p>
            <a:pPr algn="ctr"/>
            <a:r>
              <a:rPr sz="1100" b="1" i="0">
                <a:solidFill>
                  <a:srgbClr val="6B7280"/>
                </a:solidFill>
              </a:rPr>
              <a:t>4</a:t>
            </a:r>
          </a:p>
        </p:txBody>
      </p:sp>
      <p:sp>
        <p:nvSpPr>
          <p:cNvPr id="27" name="TextBox 26"/>
          <p:cNvSpPr txBox="1"/>
          <p:nvPr/>
        </p:nvSpPr>
        <p:spPr>
          <a:xfrm>
            <a:off x="822960" y="4343400"/>
            <a:ext cx="2286000" cy="320040"/>
          </a:xfrm>
          <a:prstGeom prst="rect">
            <a:avLst/>
          </a:prstGeom>
          <a:noFill/>
        </p:spPr>
        <p:txBody>
          <a:bodyPr wrap="square">
            <a:spAutoFit/>
          </a:bodyPr>
          <a:lstStyle/>
          <a:p>
            <a:pPr algn="l"/>
            <a:r>
              <a:rPr sz="1100" b="0" i="0">
                <a:solidFill>
                  <a:srgbClr val="111827"/>
                </a:solidFill>
              </a:rPr>
              <a:t>Dr. Raj Patel</a:t>
            </a:r>
          </a:p>
        </p:txBody>
      </p:sp>
      <p:sp>
        <p:nvSpPr>
          <p:cNvPr id="28" name="TextBox 27"/>
          <p:cNvSpPr txBox="1"/>
          <p:nvPr/>
        </p:nvSpPr>
        <p:spPr>
          <a:xfrm>
            <a:off x="822960" y="4663440"/>
            <a:ext cx="2286000" cy="274320"/>
          </a:xfrm>
          <a:prstGeom prst="rect">
            <a:avLst/>
          </a:prstGeom>
          <a:noFill/>
        </p:spPr>
        <p:txBody>
          <a:bodyPr wrap="square">
            <a:spAutoFit/>
          </a:bodyPr>
          <a:lstStyle/>
          <a:p>
            <a:pPr algn="l"/>
            <a:r>
              <a:rPr sz="900" b="0" i="0">
                <a:solidFill>
                  <a:srgbClr val="6B7280"/>
                </a:solidFill>
              </a:rPr>
              <a:t>Lung · 280 pts</a:t>
            </a:r>
          </a:p>
        </p:txBody>
      </p:sp>
      <p:sp>
        <p:nvSpPr>
          <p:cNvPr id="29" name="TextBox 28"/>
          <p:cNvSpPr txBox="1"/>
          <p:nvPr/>
        </p:nvSpPr>
        <p:spPr>
          <a:xfrm>
            <a:off x="3657600" y="4434840"/>
            <a:ext cx="548640" cy="457200"/>
          </a:xfrm>
          <a:prstGeom prst="rect">
            <a:avLst/>
          </a:prstGeom>
          <a:noFill/>
        </p:spPr>
        <p:txBody>
          <a:bodyPr wrap="square">
            <a:spAutoFit/>
          </a:bodyPr>
          <a:lstStyle/>
          <a:p>
            <a:pPr algn="ctr"/>
            <a:r>
              <a:rPr sz="1600" b="1" i="0">
                <a:solidFill>
                  <a:srgbClr val="1D4ED8"/>
                </a:solidFill>
              </a:rPr>
              <a:t>78</a:t>
            </a:r>
          </a:p>
        </p:txBody>
      </p:sp>
      <p:sp>
        <p:nvSpPr>
          <p:cNvPr id="30" name="Rectangle 29"/>
          <p:cNvSpPr/>
          <p:nvPr/>
        </p:nvSpPr>
        <p:spPr>
          <a:xfrm>
            <a:off x="365760" y="5120640"/>
            <a:ext cx="3931920" cy="7315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257800"/>
            <a:ext cx="274320" cy="457200"/>
          </a:xfrm>
          <a:prstGeom prst="rect">
            <a:avLst/>
          </a:prstGeom>
          <a:noFill/>
        </p:spPr>
        <p:txBody>
          <a:bodyPr wrap="square">
            <a:spAutoFit/>
          </a:bodyPr>
          <a:lstStyle/>
          <a:p>
            <a:pPr algn="ctr"/>
            <a:r>
              <a:rPr sz="1100" b="1" i="0">
                <a:solidFill>
                  <a:srgbClr val="6B7280"/>
                </a:solidFill>
              </a:rPr>
              <a:t>5</a:t>
            </a:r>
          </a:p>
        </p:txBody>
      </p:sp>
      <p:sp>
        <p:nvSpPr>
          <p:cNvPr id="32" name="TextBox 31"/>
          <p:cNvSpPr txBox="1"/>
          <p:nvPr/>
        </p:nvSpPr>
        <p:spPr>
          <a:xfrm>
            <a:off x="822960" y="5166360"/>
            <a:ext cx="2286000" cy="320040"/>
          </a:xfrm>
          <a:prstGeom prst="rect">
            <a:avLst/>
          </a:prstGeom>
          <a:noFill/>
        </p:spPr>
        <p:txBody>
          <a:bodyPr wrap="square">
            <a:spAutoFit/>
          </a:bodyPr>
          <a:lstStyle/>
          <a:p>
            <a:pPr algn="l"/>
            <a:r>
              <a:rPr sz="1100" b="0" i="0">
                <a:solidFill>
                  <a:srgbClr val="111827"/>
                </a:solidFill>
              </a:rPr>
              <a:t>Dr. Marcus Williams</a:t>
            </a:r>
          </a:p>
        </p:txBody>
      </p:sp>
      <p:sp>
        <p:nvSpPr>
          <p:cNvPr id="33" name="TextBox 32"/>
          <p:cNvSpPr txBox="1"/>
          <p:nvPr/>
        </p:nvSpPr>
        <p:spPr>
          <a:xfrm>
            <a:off x="822960" y="5486400"/>
            <a:ext cx="2286000" cy="274320"/>
          </a:xfrm>
          <a:prstGeom prst="rect">
            <a:avLst/>
          </a:prstGeom>
          <a:noFill/>
        </p:spPr>
        <p:txBody>
          <a:bodyPr wrap="square">
            <a:spAutoFit/>
          </a:bodyPr>
          <a:lstStyle/>
          <a:p>
            <a:pPr algn="l"/>
            <a:r>
              <a:rPr sz="900" b="0" i="0">
                <a:solidFill>
                  <a:srgbClr val="6B7280"/>
                </a:solidFill>
              </a:rPr>
              <a:t>GI · 230 pts</a:t>
            </a:r>
          </a:p>
        </p:txBody>
      </p:sp>
      <p:sp>
        <p:nvSpPr>
          <p:cNvPr id="34" name="TextBox 33"/>
          <p:cNvSpPr txBox="1"/>
          <p:nvPr/>
        </p:nvSpPr>
        <p:spPr>
          <a:xfrm>
            <a:off x="3657600" y="5257800"/>
            <a:ext cx="548640" cy="457200"/>
          </a:xfrm>
          <a:prstGeom prst="rect">
            <a:avLst/>
          </a:prstGeom>
          <a:noFill/>
        </p:spPr>
        <p:txBody>
          <a:bodyPr wrap="square">
            <a:spAutoFit/>
          </a:bodyPr>
          <a:lstStyle/>
          <a:p>
            <a:pPr algn="ctr"/>
            <a:r>
              <a:rPr sz="1600" b="1" i="0">
                <a:solidFill>
                  <a:srgbClr val="1D4ED8"/>
                </a:solidFill>
              </a:rPr>
              <a:t>72</a:t>
            </a:r>
          </a:p>
        </p:txBody>
      </p:sp>
      <p:sp>
        <p:nvSpPr>
          <p:cNvPr id="35" name="Rectangle 34"/>
          <p:cNvSpPr/>
          <p:nvPr/>
        </p:nvSpPr>
        <p:spPr>
          <a:xfrm>
            <a:off x="4663440" y="1371600"/>
            <a:ext cx="7223760" cy="502920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00600" y="1463040"/>
            <a:ext cx="6858000" cy="274320"/>
          </a:xfrm>
          <a:prstGeom prst="rect">
            <a:avLst/>
          </a:prstGeom>
          <a:noFill/>
        </p:spPr>
        <p:txBody>
          <a:bodyPr wrap="square">
            <a:spAutoFit/>
          </a:bodyPr>
          <a:lstStyle/>
          <a:p>
            <a:pPr algn="l"/>
            <a:r>
              <a:rPr sz="900" b="1" i="0">
                <a:solidFill>
                  <a:srgbClr val="1D4ED8"/>
                </a:solidFill>
              </a:rPr>
              <a:t>Provider Briefing · Dr. Mei-Lin Zhao</a:t>
            </a:r>
          </a:p>
        </p:txBody>
      </p:sp>
      <p:sp>
        <p:nvSpPr>
          <p:cNvPr id="37" name="TextBox 36"/>
          <p:cNvSpPr txBox="1"/>
          <p:nvPr/>
        </p:nvSpPr>
        <p:spPr>
          <a:xfrm>
            <a:off x="4846320" y="1874519"/>
            <a:ext cx="6858000" cy="274320"/>
          </a:xfrm>
          <a:prstGeom prst="rect">
            <a:avLst/>
          </a:prstGeom>
          <a:noFill/>
        </p:spPr>
        <p:txBody>
          <a:bodyPr wrap="square">
            <a:spAutoFit/>
          </a:bodyPr>
          <a:lstStyle/>
          <a:p>
            <a:pPr algn="l"/>
            <a:r>
              <a:rPr sz="1000" b="1" i="0">
                <a:solidFill>
                  <a:srgbClr val="111827"/>
                </a:solidFill>
              </a:rPr>
              <a:t>Why call now:</a:t>
            </a:r>
          </a:p>
        </p:txBody>
      </p:sp>
      <p:sp>
        <p:nvSpPr>
          <p:cNvPr id="38" name="Rectangle 37"/>
          <p:cNvSpPr/>
          <p:nvPr/>
        </p:nvSpPr>
        <p:spPr>
          <a:xfrm>
            <a:off x="4846320" y="2148839"/>
            <a:ext cx="6858000" cy="6858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83480" y="2194559"/>
            <a:ext cx="6583680" cy="594360"/>
          </a:xfrm>
          <a:prstGeom prst="rect">
            <a:avLst/>
          </a:prstGeom>
          <a:noFill/>
        </p:spPr>
        <p:txBody>
          <a:bodyPr wrap="square">
            <a:spAutoFit/>
          </a:bodyPr>
          <a:lstStyle/>
          <a:p>
            <a:pPr algn="l"/>
            <a:r>
              <a:rPr sz="1000" b="0" i="0">
                <a:solidFill>
                  <a:srgbClr val="111827"/>
                </a:solidFill>
              </a:rPr>
              <a:t>Champion account at Northwestern. Consistent xT CDx orderer. Expansion opportunity with xF for osimertinib resistance monitoring + onboarding new colleague Dr. Park.</a:t>
            </a:r>
          </a:p>
        </p:txBody>
      </p:sp>
      <p:sp>
        <p:nvSpPr>
          <p:cNvPr id="40" name="TextBox 39"/>
          <p:cNvSpPr txBox="1"/>
          <p:nvPr/>
        </p:nvSpPr>
        <p:spPr>
          <a:xfrm>
            <a:off x="4846320" y="2971800"/>
            <a:ext cx="6858000" cy="274320"/>
          </a:xfrm>
          <a:prstGeom prst="rect">
            <a:avLst/>
          </a:prstGeom>
          <a:noFill/>
        </p:spPr>
        <p:txBody>
          <a:bodyPr wrap="square">
            <a:spAutoFit/>
          </a:bodyPr>
          <a:lstStyle/>
          <a:p>
            <a:pPr algn="l"/>
            <a:r>
              <a:rPr sz="1000" b="1" i="0">
                <a:solidFill>
                  <a:srgbClr val="059669"/>
                </a:solidFill>
              </a:rPr>
              <a:t>Best-fit product:</a:t>
            </a:r>
          </a:p>
        </p:txBody>
      </p:sp>
      <p:sp>
        <p:nvSpPr>
          <p:cNvPr id="41" name="Rectangle 40"/>
          <p:cNvSpPr/>
          <p:nvPr/>
        </p:nvSpPr>
        <p:spPr>
          <a:xfrm>
            <a:off x="4846320" y="3246120"/>
            <a:ext cx="6858000" cy="6858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83480" y="3291840"/>
            <a:ext cx="6583680" cy="594360"/>
          </a:xfrm>
          <a:prstGeom prst="rect">
            <a:avLst/>
          </a:prstGeom>
          <a:noFill/>
        </p:spPr>
        <p:txBody>
          <a:bodyPr wrap="square">
            <a:spAutoFit/>
          </a:bodyPr>
          <a:lstStyle/>
          <a:p>
            <a:pPr algn="l"/>
            <a:r>
              <a:rPr sz="1000" b="0" i="0">
                <a:solidFill>
                  <a:srgbClr val="111827"/>
                </a:solidFill>
              </a:rPr>
              <a:t>xT CDx (primary)  +  xF/xF+ (expansion)  +  xR (RNA sequencing)</a:t>
            </a:r>
          </a:p>
        </p:txBody>
      </p:sp>
      <p:sp>
        <p:nvSpPr>
          <p:cNvPr id="43" name="TextBox 42"/>
          <p:cNvSpPr txBox="1"/>
          <p:nvPr/>
        </p:nvSpPr>
        <p:spPr>
          <a:xfrm>
            <a:off x="4846320" y="4069079"/>
            <a:ext cx="6858000" cy="274320"/>
          </a:xfrm>
          <a:prstGeom prst="rect">
            <a:avLst/>
          </a:prstGeom>
          <a:noFill/>
        </p:spPr>
        <p:txBody>
          <a:bodyPr wrap="square">
            <a:spAutoFit/>
          </a:bodyPr>
          <a:lstStyle/>
          <a:p>
            <a:pPr algn="l"/>
            <a:r>
              <a:rPr sz="1000" b="1" i="0">
                <a:solidFill>
                  <a:srgbClr val="D97706"/>
                </a:solidFill>
              </a:rPr>
              <a:t>Objection handler:</a:t>
            </a:r>
          </a:p>
        </p:txBody>
      </p:sp>
      <p:sp>
        <p:nvSpPr>
          <p:cNvPr id="44" name="Rectangle 43"/>
          <p:cNvSpPr/>
          <p:nvPr/>
        </p:nvSpPr>
        <p:spPr>
          <a:xfrm>
            <a:off x="4846320" y="4343399"/>
            <a:ext cx="6858000" cy="6858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983480" y="4389119"/>
            <a:ext cx="6583680" cy="594360"/>
          </a:xfrm>
          <a:prstGeom prst="rect">
            <a:avLst/>
          </a:prstGeom>
          <a:noFill/>
        </p:spPr>
        <p:txBody>
          <a:bodyPr wrap="square">
            <a:spAutoFit/>
          </a:bodyPr>
          <a:lstStyle/>
          <a:p>
            <a:pPr algn="l"/>
            <a:r>
              <a:rPr sz="1000" b="0" i="0">
                <a:solidFill>
                  <a:srgbClr val="111827"/>
                </a:solidFill>
              </a:rPr>
              <a:t>No active objections. Focus on expansion pitch.</a:t>
            </a:r>
          </a:p>
        </p:txBody>
      </p:sp>
      <p:sp>
        <p:nvSpPr>
          <p:cNvPr id="46" name="TextBox 45"/>
          <p:cNvSpPr txBox="1"/>
          <p:nvPr/>
        </p:nvSpPr>
        <p:spPr>
          <a:xfrm>
            <a:off x="4846320" y="5166359"/>
            <a:ext cx="6858000" cy="274320"/>
          </a:xfrm>
          <a:prstGeom prst="rect">
            <a:avLst/>
          </a:prstGeom>
          <a:noFill/>
        </p:spPr>
        <p:txBody>
          <a:bodyPr wrap="square">
            <a:spAutoFit/>
          </a:bodyPr>
          <a:lstStyle/>
          <a:p>
            <a:pPr algn="l"/>
            <a:r>
              <a:rPr sz="1000" b="1" i="0">
                <a:solidFill>
                  <a:srgbClr val="1D4ED8"/>
                </a:solidFill>
              </a:rPr>
              <a:t>30-sec script:</a:t>
            </a:r>
          </a:p>
        </p:txBody>
      </p:sp>
      <p:sp>
        <p:nvSpPr>
          <p:cNvPr id="47" name="Rectangle 46"/>
          <p:cNvSpPr/>
          <p:nvPr/>
        </p:nvSpPr>
        <p:spPr>
          <a:xfrm>
            <a:off x="4846320" y="5440679"/>
            <a:ext cx="6858000" cy="6858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83480" y="5486399"/>
            <a:ext cx="6583680" cy="594360"/>
          </a:xfrm>
          <a:prstGeom prst="rect">
            <a:avLst/>
          </a:prstGeom>
          <a:noFill/>
        </p:spPr>
        <p:txBody>
          <a:bodyPr wrap="square">
            <a:spAutoFit/>
          </a:bodyPr>
          <a:lstStyle/>
          <a:p>
            <a:pPr algn="l"/>
            <a:r>
              <a:rPr sz="1000" b="0" i="0">
                <a:solidFill>
                  <a:srgbClr val="111827"/>
                </a:solidFill>
              </a:rPr>
              <a:t>"Dr. Zhao, your xT CDx program is exceptional. The next step is xF liquid biopsy to track T790M resistance as your osimertinib patients progress. Serial ctDNA monitoring lets you catch resistance before it's clinically apparent…"</a:t>
            </a:r>
          </a:p>
        </p:txBody>
      </p:sp>
      <p:sp>
        <p:nvSpPr>
          <p:cNvPr id="49" name="TextBox 48"/>
          <p:cNvSpPr txBox="1"/>
          <p:nvPr/>
        </p:nvSpPr>
        <p:spPr>
          <a:xfrm>
            <a:off x="274320" y="6537960"/>
            <a:ext cx="11612880" cy="228600"/>
          </a:xfrm>
          <a:prstGeom prst="rect">
            <a:avLst/>
          </a:prstGeom>
          <a:noFill/>
        </p:spPr>
        <p:txBody>
          <a:bodyPr wrap="square">
            <a:spAutoFit/>
          </a:bodyPr>
          <a:lstStyle/>
          <a:p>
            <a:pPr algn="ctr"/>
            <a:r>
              <a:rPr sz="900" b="0" i="1">
                <a:solidFill>
                  <a:srgbClr val="6B7280"/>
                </a:solidFill>
              </a:rPr>
              <a:t>[ Screenshot placeholder: run app.py to see live demo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583680"/>
            <a:ext cx="11825935" cy="274320"/>
          </a:xfrm>
          <a:prstGeom prst="rect">
            <a:avLst/>
          </a:prstGeom>
          <a:noFill/>
        </p:spPr>
        <p:txBody>
          <a:bodyPr wrap="square">
            <a:spAutoFit/>
          </a:bodyPr>
          <a:lstStyle/>
          <a:p>
            <a:pPr algn="l"/>
            <a:r>
              <a:rPr sz="800" b="0" i="0">
                <a:solidFill>
                  <a:srgbClr val="FFFFFF"/>
                </a:solidFill>
              </a:rPr>
              <a:t>Tempus Sales Copilot  ·  Confidential</a:t>
            </a:r>
          </a:p>
        </p:txBody>
      </p:sp>
      <p:sp>
        <p:nvSpPr>
          <p:cNvPr id="5" name="TextBox 4"/>
          <p:cNvSpPr txBox="1"/>
          <p:nvPr/>
        </p:nvSpPr>
        <p:spPr>
          <a:xfrm>
            <a:off x="11734495" y="6537960"/>
            <a:ext cx="320040" cy="274320"/>
          </a:xfrm>
          <a:prstGeom prst="rect">
            <a:avLst/>
          </a:prstGeom>
          <a:noFill/>
        </p:spPr>
        <p:txBody>
          <a:bodyPr wrap="square">
            <a:spAutoFit/>
          </a:bodyPr>
          <a:lstStyle/>
          <a:p>
            <a:pPr algn="r"/>
            <a:r>
              <a:rPr sz="900" b="0" i="0">
                <a:solidFill>
                  <a:srgbClr val="6B7280"/>
                </a:solidFill>
              </a:rPr>
              <a:t>7</a:t>
            </a:r>
          </a:p>
        </p:txBody>
      </p:sp>
      <p:sp>
        <p:nvSpPr>
          <p:cNvPr id="6" name="TextBox 5"/>
          <p:cNvSpPr txBox="1"/>
          <p:nvPr/>
        </p:nvSpPr>
        <p:spPr>
          <a:xfrm>
            <a:off x="274320" y="274320"/>
            <a:ext cx="4572000" cy="274320"/>
          </a:xfrm>
          <a:prstGeom prst="rect">
            <a:avLst/>
          </a:prstGeom>
          <a:noFill/>
        </p:spPr>
        <p:txBody>
          <a:bodyPr wrap="square">
            <a:spAutoFit/>
          </a:bodyPr>
          <a:lstStyle/>
          <a:p>
            <a:pPr algn="l"/>
            <a:r>
              <a:rPr sz="1000" b="1" i="0">
                <a:solidFill>
                  <a:srgbClr val="1D4ED8"/>
                </a:solidFill>
              </a:rPr>
              <a:t>EVALUATION &amp; IMPACT</a:t>
            </a:r>
          </a:p>
        </p:txBody>
      </p:sp>
      <p:sp>
        <p:nvSpPr>
          <p:cNvPr id="7" name="TextBox 6"/>
          <p:cNvSpPr txBox="1"/>
          <p:nvPr/>
        </p:nvSpPr>
        <p:spPr>
          <a:xfrm>
            <a:off x="274320" y="594360"/>
            <a:ext cx="6400800" cy="548640"/>
          </a:xfrm>
          <a:prstGeom prst="rect">
            <a:avLst/>
          </a:prstGeom>
          <a:noFill/>
        </p:spPr>
        <p:txBody>
          <a:bodyPr wrap="square">
            <a:spAutoFit/>
          </a:bodyPr>
          <a:lstStyle/>
          <a:p>
            <a:pPr algn="l"/>
            <a:r>
              <a:rPr sz="3000" b="1" i="0">
                <a:solidFill>
                  <a:srgbClr val="111827"/>
                </a:solidFill>
              </a:rPr>
              <a:t>Proving it works</a:t>
            </a:r>
          </a:p>
        </p:txBody>
      </p:sp>
      <p:sp>
        <p:nvSpPr>
          <p:cNvPr id="8" name="Rectangle 7"/>
          <p:cNvSpPr/>
          <p:nvPr/>
        </p:nvSpPr>
        <p:spPr>
          <a:xfrm>
            <a:off x="274320" y="1463040"/>
            <a:ext cx="2697480" cy="45720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554480"/>
            <a:ext cx="2560320" cy="365760"/>
          </a:xfrm>
          <a:prstGeom prst="rect">
            <a:avLst/>
          </a:prstGeom>
          <a:noFill/>
        </p:spPr>
        <p:txBody>
          <a:bodyPr wrap="square">
            <a:spAutoFit/>
          </a:bodyPr>
          <a:lstStyle/>
          <a:p>
            <a:pPr algn="l"/>
            <a:r>
              <a:rPr sz="1000" b="1" i="0">
                <a:solidFill>
                  <a:srgbClr val="FFFFFF"/>
                </a:solidFill>
              </a:rPr>
              <a:t>Metric</a:t>
            </a:r>
          </a:p>
        </p:txBody>
      </p:sp>
      <p:sp>
        <p:nvSpPr>
          <p:cNvPr id="10" name="Rectangle 9"/>
          <p:cNvSpPr/>
          <p:nvPr/>
        </p:nvSpPr>
        <p:spPr>
          <a:xfrm>
            <a:off x="3063240" y="1463040"/>
            <a:ext cx="1417320" cy="45720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554480"/>
            <a:ext cx="1280160" cy="365760"/>
          </a:xfrm>
          <a:prstGeom prst="rect">
            <a:avLst/>
          </a:prstGeom>
          <a:noFill/>
        </p:spPr>
        <p:txBody>
          <a:bodyPr wrap="square">
            <a:spAutoFit/>
          </a:bodyPr>
          <a:lstStyle/>
          <a:p>
            <a:pPr algn="l"/>
            <a:r>
              <a:rPr sz="1000" b="1" i="0">
                <a:solidFill>
                  <a:srgbClr val="FFFFFF"/>
                </a:solidFill>
              </a:rPr>
              <a:t>Current</a:t>
            </a:r>
          </a:p>
        </p:txBody>
      </p:sp>
      <p:sp>
        <p:nvSpPr>
          <p:cNvPr id="12" name="Rectangle 11"/>
          <p:cNvSpPr/>
          <p:nvPr/>
        </p:nvSpPr>
        <p:spPr>
          <a:xfrm>
            <a:off x="4572000" y="1463040"/>
            <a:ext cx="1600200" cy="45720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554480"/>
            <a:ext cx="1463040" cy="365760"/>
          </a:xfrm>
          <a:prstGeom prst="rect">
            <a:avLst/>
          </a:prstGeom>
          <a:noFill/>
        </p:spPr>
        <p:txBody>
          <a:bodyPr wrap="square">
            <a:spAutoFit/>
          </a:bodyPr>
          <a:lstStyle/>
          <a:p>
            <a:pPr algn="l"/>
            <a:r>
              <a:rPr sz="1000" b="1" i="0">
                <a:solidFill>
                  <a:srgbClr val="FFFFFF"/>
                </a:solidFill>
              </a:rPr>
              <a:t>Target</a:t>
            </a:r>
          </a:p>
        </p:txBody>
      </p:sp>
      <p:sp>
        <p:nvSpPr>
          <p:cNvPr id="14" name="Rectangle 13"/>
          <p:cNvSpPr/>
          <p:nvPr/>
        </p:nvSpPr>
        <p:spPr>
          <a:xfrm>
            <a:off x="6263640" y="1463040"/>
            <a:ext cx="2697480" cy="45720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54480"/>
            <a:ext cx="2560320" cy="365760"/>
          </a:xfrm>
          <a:prstGeom prst="rect">
            <a:avLst/>
          </a:prstGeom>
          <a:noFill/>
        </p:spPr>
        <p:txBody>
          <a:bodyPr wrap="square">
            <a:spAutoFit/>
          </a:bodyPr>
          <a:lstStyle/>
          <a:p>
            <a:pPr algn="l"/>
            <a:r>
              <a:rPr sz="1000" b="1" i="0">
                <a:solidFill>
                  <a:srgbClr val="FFFFFF"/>
                </a:solidFill>
              </a:rPr>
              <a:t>How to Measure</a:t>
            </a:r>
          </a:p>
        </p:txBody>
      </p:sp>
      <p:sp>
        <p:nvSpPr>
          <p:cNvPr id="16" name="Rectangle 15"/>
          <p:cNvSpPr/>
          <p:nvPr/>
        </p:nvSpPr>
        <p:spPr>
          <a:xfrm>
            <a:off x="274320" y="1920240"/>
            <a:ext cx="269748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011680"/>
            <a:ext cx="2560320" cy="365760"/>
          </a:xfrm>
          <a:prstGeom prst="rect">
            <a:avLst/>
          </a:prstGeom>
          <a:noFill/>
        </p:spPr>
        <p:txBody>
          <a:bodyPr wrap="square">
            <a:spAutoFit/>
          </a:bodyPr>
          <a:lstStyle/>
          <a:p>
            <a:pPr algn="l"/>
            <a:r>
              <a:rPr sz="1000" b="0" i="0">
                <a:solidFill>
                  <a:srgbClr val="111827"/>
                </a:solidFill>
              </a:rPr>
              <a:t>Prep time per meeting</a:t>
            </a:r>
          </a:p>
        </p:txBody>
      </p:sp>
      <p:sp>
        <p:nvSpPr>
          <p:cNvPr id="18" name="Rectangle 17"/>
          <p:cNvSpPr/>
          <p:nvPr/>
        </p:nvSpPr>
        <p:spPr>
          <a:xfrm>
            <a:off x="3063240" y="1920240"/>
            <a:ext cx="141732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54680" y="2011680"/>
            <a:ext cx="1280160" cy="365760"/>
          </a:xfrm>
          <a:prstGeom prst="rect">
            <a:avLst/>
          </a:prstGeom>
          <a:noFill/>
        </p:spPr>
        <p:txBody>
          <a:bodyPr wrap="square">
            <a:spAutoFit/>
          </a:bodyPr>
          <a:lstStyle/>
          <a:p>
            <a:pPr algn="l"/>
            <a:r>
              <a:rPr sz="1000" b="0" i="0">
                <a:solidFill>
                  <a:srgbClr val="111827"/>
                </a:solidFill>
              </a:rPr>
              <a:t>2–4 hours</a:t>
            </a:r>
          </a:p>
        </p:txBody>
      </p:sp>
      <p:sp>
        <p:nvSpPr>
          <p:cNvPr id="20" name="Rectangle 19"/>
          <p:cNvSpPr/>
          <p:nvPr/>
        </p:nvSpPr>
        <p:spPr>
          <a:xfrm>
            <a:off x="4572000" y="1920240"/>
            <a:ext cx="160020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2011680"/>
            <a:ext cx="1463040" cy="365760"/>
          </a:xfrm>
          <a:prstGeom prst="rect">
            <a:avLst/>
          </a:prstGeom>
          <a:noFill/>
        </p:spPr>
        <p:txBody>
          <a:bodyPr wrap="square">
            <a:spAutoFit/>
          </a:bodyPr>
          <a:lstStyle/>
          <a:p>
            <a:pPr algn="l"/>
            <a:r>
              <a:rPr sz="1000" b="1" i="0">
                <a:solidFill>
                  <a:srgbClr val="059669"/>
                </a:solidFill>
              </a:rPr>
              <a:t>&lt; 15 minutes</a:t>
            </a:r>
          </a:p>
        </p:txBody>
      </p:sp>
      <p:sp>
        <p:nvSpPr>
          <p:cNvPr id="22" name="Rectangle 21"/>
          <p:cNvSpPr/>
          <p:nvPr/>
        </p:nvSpPr>
        <p:spPr>
          <a:xfrm>
            <a:off x="6263640" y="1920240"/>
            <a:ext cx="269748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011680"/>
            <a:ext cx="2560320" cy="365760"/>
          </a:xfrm>
          <a:prstGeom prst="rect">
            <a:avLst/>
          </a:prstGeom>
          <a:noFill/>
        </p:spPr>
        <p:txBody>
          <a:bodyPr wrap="square">
            <a:spAutoFit/>
          </a:bodyPr>
          <a:lstStyle/>
          <a:p>
            <a:pPr algn="l"/>
            <a:r>
              <a:rPr sz="1000" b="0" i="0">
                <a:solidFill>
                  <a:srgbClr val="111827"/>
                </a:solidFill>
              </a:rPr>
              <a:t>Time-tracking in pilot</a:t>
            </a:r>
          </a:p>
        </p:txBody>
      </p:sp>
      <p:sp>
        <p:nvSpPr>
          <p:cNvPr id="24" name="Rectangle 23"/>
          <p:cNvSpPr/>
          <p:nvPr/>
        </p:nvSpPr>
        <p:spPr>
          <a:xfrm>
            <a:off x="274320" y="2377440"/>
            <a:ext cx="2697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468880"/>
            <a:ext cx="2560320" cy="365760"/>
          </a:xfrm>
          <a:prstGeom prst="rect">
            <a:avLst/>
          </a:prstGeom>
          <a:noFill/>
        </p:spPr>
        <p:txBody>
          <a:bodyPr wrap="square">
            <a:spAutoFit/>
          </a:bodyPr>
          <a:lstStyle/>
          <a:p>
            <a:pPr algn="l"/>
            <a:r>
              <a:rPr sz="1000" b="0" i="0">
                <a:solidFill>
                  <a:srgbClr val="111827"/>
                </a:solidFill>
              </a:rPr>
              <a:t>Meetings per week</a:t>
            </a:r>
          </a:p>
        </p:txBody>
      </p:sp>
      <p:sp>
        <p:nvSpPr>
          <p:cNvPr id="26" name="Rectangle 25"/>
          <p:cNvSpPr/>
          <p:nvPr/>
        </p:nvSpPr>
        <p:spPr>
          <a:xfrm>
            <a:off x="3063240" y="2377440"/>
            <a:ext cx="14173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54680" y="2468880"/>
            <a:ext cx="1280160" cy="365760"/>
          </a:xfrm>
          <a:prstGeom prst="rect">
            <a:avLst/>
          </a:prstGeom>
          <a:noFill/>
        </p:spPr>
        <p:txBody>
          <a:bodyPr wrap="square">
            <a:spAutoFit/>
          </a:bodyPr>
          <a:lstStyle/>
          <a:p>
            <a:pPr algn="l"/>
            <a:r>
              <a:rPr sz="1000" b="0" i="0">
                <a:solidFill>
                  <a:srgbClr val="111827"/>
                </a:solidFill>
              </a:rPr>
              <a:t>6–8</a:t>
            </a:r>
          </a:p>
        </p:txBody>
      </p:sp>
      <p:sp>
        <p:nvSpPr>
          <p:cNvPr id="28" name="Rectangle 27"/>
          <p:cNvSpPr/>
          <p:nvPr/>
        </p:nvSpPr>
        <p:spPr>
          <a:xfrm>
            <a:off x="4572000" y="2377440"/>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2468880"/>
            <a:ext cx="1463040" cy="365760"/>
          </a:xfrm>
          <a:prstGeom prst="rect">
            <a:avLst/>
          </a:prstGeom>
          <a:noFill/>
        </p:spPr>
        <p:txBody>
          <a:bodyPr wrap="square">
            <a:spAutoFit/>
          </a:bodyPr>
          <a:lstStyle/>
          <a:p>
            <a:pPr algn="l"/>
            <a:r>
              <a:rPr sz="1000" b="1" i="0">
                <a:solidFill>
                  <a:srgbClr val="059669"/>
                </a:solidFill>
              </a:rPr>
              <a:t>12–15</a:t>
            </a:r>
          </a:p>
        </p:txBody>
      </p:sp>
      <p:sp>
        <p:nvSpPr>
          <p:cNvPr id="30" name="Rectangle 29"/>
          <p:cNvSpPr/>
          <p:nvPr/>
        </p:nvSpPr>
        <p:spPr>
          <a:xfrm>
            <a:off x="6263640" y="2377440"/>
            <a:ext cx="2697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2468880"/>
            <a:ext cx="2560320" cy="365760"/>
          </a:xfrm>
          <a:prstGeom prst="rect">
            <a:avLst/>
          </a:prstGeom>
          <a:noFill/>
        </p:spPr>
        <p:txBody>
          <a:bodyPr wrap="square">
            <a:spAutoFit/>
          </a:bodyPr>
          <a:lstStyle/>
          <a:p>
            <a:pPr algn="l"/>
            <a:r>
              <a:rPr sz="1000" b="0" i="0">
                <a:solidFill>
                  <a:srgbClr val="111827"/>
                </a:solidFill>
              </a:rPr>
              <a:t>CRM meeting logs</a:t>
            </a:r>
          </a:p>
        </p:txBody>
      </p:sp>
      <p:sp>
        <p:nvSpPr>
          <p:cNvPr id="32" name="Rectangle 31"/>
          <p:cNvSpPr/>
          <p:nvPr/>
        </p:nvSpPr>
        <p:spPr>
          <a:xfrm>
            <a:off x="274320" y="2834640"/>
            <a:ext cx="269748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2926080"/>
            <a:ext cx="2560320" cy="365760"/>
          </a:xfrm>
          <a:prstGeom prst="rect">
            <a:avLst/>
          </a:prstGeom>
          <a:noFill/>
        </p:spPr>
        <p:txBody>
          <a:bodyPr wrap="square">
            <a:spAutoFit/>
          </a:bodyPr>
          <a:lstStyle/>
          <a:p>
            <a:pPr algn="l"/>
            <a:r>
              <a:rPr sz="1000" b="0" i="0">
                <a:solidFill>
                  <a:srgbClr val="111827"/>
                </a:solidFill>
              </a:rPr>
              <a:t>Objection resolution rate</a:t>
            </a:r>
          </a:p>
        </p:txBody>
      </p:sp>
      <p:sp>
        <p:nvSpPr>
          <p:cNvPr id="34" name="Rectangle 33"/>
          <p:cNvSpPr/>
          <p:nvPr/>
        </p:nvSpPr>
        <p:spPr>
          <a:xfrm>
            <a:off x="3063240" y="2834640"/>
            <a:ext cx="141732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54680" y="2926080"/>
            <a:ext cx="1280160" cy="365760"/>
          </a:xfrm>
          <a:prstGeom prst="rect">
            <a:avLst/>
          </a:prstGeom>
          <a:noFill/>
        </p:spPr>
        <p:txBody>
          <a:bodyPr wrap="square">
            <a:spAutoFit/>
          </a:bodyPr>
          <a:lstStyle/>
          <a:p>
            <a:pPr algn="l"/>
            <a:r>
              <a:rPr sz="1000" b="0" i="0">
                <a:solidFill>
                  <a:srgbClr val="111827"/>
                </a:solidFill>
              </a:rPr>
              <a:t>Anecdotal</a:t>
            </a:r>
          </a:p>
        </p:txBody>
      </p:sp>
      <p:sp>
        <p:nvSpPr>
          <p:cNvPr id="36" name="Rectangle 35"/>
          <p:cNvSpPr/>
          <p:nvPr/>
        </p:nvSpPr>
        <p:spPr>
          <a:xfrm>
            <a:off x="4572000" y="2834640"/>
            <a:ext cx="160020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2926080"/>
            <a:ext cx="1463040" cy="365760"/>
          </a:xfrm>
          <a:prstGeom prst="rect">
            <a:avLst/>
          </a:prstGeom>
          <a:noFill/>
        </p:spPr>
        <p:txBody>
          <a:bodyPr wrap="square">
            <a:spAutoFit/>
          </a:bodyPr>
          <a:lstStyle/>
          <a:p>
            <a:pPr algn="l"/>
            <a:r>
              <a:rPr sz="1000" b="1" i="0">
                <a:solidFill>
                  <a:srgbClr val="059669"/>
                </a:solidFill>
              </a:rPr>
              <a:t>Tracked by type</a:t>
            </a:r>
          </a:p>
        </p:txBody>
      </p:sp>
      <p:sp>
        <p:nvSpPr>
          <p:cNvPr id="38" name="Rectangle 37"/>
          <p:cNvSpPr/>
          <p:nvPr/>
        </p:nvSpPr>
        <p:spPr>
          <a:xfrm>
            <a:off x="6263640" y="2834640"/>
            <a:ext cx="269748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2926080"/>
            <a:ext cx="2560320" cy="365760"/>
          </a:xfrm>
          <a:prstGeom prst="rect">
            <a:avLst/>
          </a:prstGeom>
          <a:noFill/>
        </p:spPr>
        <p:txBody>
          <a:bodyPr wrap="square">
            <a:spAutoFit/>
          </a:bodyPr>
          <a:lstStyle/>
          <a:p>
            <a:pPr algn="l"/>
            <a:r>
              <a:rPr sz="1000" b="0" i="0">
                <a:solidFill>
                  <a:srgbClr val="111827"/>
                </a:solidFill>
              </a:rPr>
              <a:t>CRM outcome tags</a:t>
            </a:r>
          </a:p>
        </p:txBody>
      </p:sp>
      <p:sp>
        <p:nvSpPr>
          <p:cNvPr id="40" name="Rectangle 39"/>
          <p:cNvSpPr/>
          <p:nvPr/>
        </p:nvSpPr>
        <p:spPr>
          <a:xfrm>
            <a:off x="274320" y="3291840"/>
            <a:ext cx="2697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3383280"/>
            <a:ext cx="2560320" cy="365760"/>
          </a:xfrm>
          <a:prstGeom prst="rect">
            <a:avLst/>
          </a:prstGeom>
          <a:noFill/>
        </p:spPr>
        <p:txBody>
          <a:bodyPr wrap="square">
            <a:spAutoFit/>
          </a:bodyPr>
          <a:lstStyle/>
          <a:p>
            <a:pPr algn="l"/>
            <a:r>
              <a:rPr sz="1000" b="0" i="0">
                <a:solidFill>
                  <a:srgbClr val="111827"/>
                </a:solidFill>
              </a:rPr>
              <a:t>Pipeline close rate</a:t>
            </a:r>
          </a:p>
        </p:txBody>
      </p:sp>
      <p:sp>
        <p:nvSpPr>
          <p:cNvPr id="42" name="Rectangle 41"/>
          <p:cNvSpPr/>
          <p:nvPr/>
        </p:nvSpPr>
        <p:spPr>
          <a:xfrm>
            <a:off x="3063240" y="3291840"/>
            <a:ext cx="14173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54680" y="3383280"/>
            <a:ext cx="1280160" cy="365760"/>
          </a:xfrm>
          <a:prstGeom prst="rect">
            <a:avLst/>
          </a:prstGeom>
          <a:noFill/>
        </p:spPr>
        <p:txBody>
          <a:bodyPr wrap="square">
            <a:spAutoFit/>
          </a:bodyPr>
          <a:lstStyle/>
          <a:p>
            <a:pPr algn="l"/>
            <a:r>
              <a:rPr sz="1000" b="0" i="0">
                <a:solidFill>
                  <a:srgbClr val="111827"/>
                </a:solidFill>
              </a:rPr>
              <a:t>~12%</a:t>
            </a:r>
          </a:p>
        </p:txBody>
      </p:sp>
      <p:sp>
        <p:nvSpPr>
          <p:cNvPr id="44" name="Rectangle 43"/>
          <p:cNvSpPr/>
          <p:nvPr/>
        </p:nvSpPr>
        <p:spPr>
          <a:xfrm>
            <a:off x="4572000" y="3291840"/>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3383280"/>
            <a:ext cx="1463040" cy="365760"/>
          </a:xfrm>
          <a:prstGeom prst="rect">
            <a:avLst/>
          </a:prstGeom>
          <a:noFill/>
        </p:spPr>
        <p:txBody>
          <a:bodyPr wrap="square">
            <a:spAutoFit/>
          </a:bodyPr>
          <a:lstStyle/>
          <a:p>
            <a:pPr algn="l"/>
            <a:r>
              <a:rPr sz="1000" b="1" i="0">
                <a:solidFill>
                  <a:srgbClr val="059669"/>
                </a:solidFill>
              </a:rPr>
              <a:t>18%+</a:t>
            </a:r>
          </a:p>
        </p:txBody>
      </p:sp>
      <p:sp>
        <p:nvSpPr>
          <p:cNvPr id="46" name="Rectangle 45"/>
          <p:cNvSpPr/>
          <p:nvPr/>
        </p:nvSpPr>
        <p:spPr>
          <a:xfrm>
            <a:off x="6263640" y="3291840"/>
            <a:ext cx="2697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3383280"/>
            <a:ext cx="2560320" cy="365760"/>
          </a:xfrm>
          <a:prstGeom prst="rect">
            <a:avLst/>
          </a:prstGeom>
          <a:noFill/>
        </p:spPr>
        <p:txBody>
          <a:bodyPr wrap="square">
            <a:spAutoFit/>
          </a:bodyPr>
          <a:lstStyle/>
          <a:p>
            <a:pPr algn="l"/>
            <a:r>
              <a:rPr sz="1000" b="0" i="0">
                <a:solidFill>
                  <a:srgbClr val="111827"/>
                </a:solidFill>
              </a:rPr>
              <a:t>Salesforce pipeline</a:t>
            </a:r>
          </a:p>
        </p:txBody>
      </p:sp>
      <p:sp>
        <p:nvSpPr>
          <p:cNvPr id="48" name="Rectangle 47"/>
          <p:cNvSpPr/>
          <p:nvPr/>
        </p:nvSpPr>
        <p:spPr>
          <a:xfrm>
            <a:off x="274320" y="3749040"/>
            <a:ext cx="269748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3840480"/>
            <a:ext cx="2560320" cy="365760"/>
          </a:xfrm>
          <a:prstGeom prst="rect">
            <a:avLst/>
          </a:prstGeom>
          <a:noFill/>
        </p:spPr>
        <p:txBody>
          <a:bodyPr wrap="square">
            <a:spAutoFit/>
          </a:bodyPr>
          <a:lstStyle/>
          <a:p>
            <a:pPr algn="l"/>
            <a:r>
              <a:rPr sz="1000" b="0" i="0">
                <a:solidFill>
                  <a:srgbClr val="111827"/>
                </a:solidFill>
              </a:rPr>
              <a:t>Output accuracy</a:t>
            </a:r>
          </a:p>
        </p:txBody>
      </p:sp>
      <p:sp>
        <p:nvSpPr>
          <p:cNvPr id="50" name="Rectangle 49"/>
          <p:cNvSpPr/>
          <p:nvPr/>
        </p:nvSpPr>
        <p:spPr>
          <a:xfrm>
            <a:off x="3063240" y="3749040"/>
            <a:ext cx="141732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54680" y="3840480"/>
            <a:ext cx="1280160" cy="365760"/>
          </a:xfrm>
          <a:prstGeom prst="rect">
            <a:avLst/>
          </a:prstGeom>
          <a:noFill/>
        </p:spPr>
        <p:txBody>
          <a:bodyPr wrap="square">
            <a:spAutoFit/>
          </a:bodyPr>
          <a:lstStyle/>
          <a:p>
            <a:pPr algn="l"/>
            <a:r>
              <a:rPr sz="1000" b="0" i="0">
                <a:solidFill>
                  <a:srgbClr val="111827"/>
                </a:solidFill>
              </a:rPr>
              <a:t>—</a:t>
            </a:r>
          </a:p>
        </p:txBody>
      </p:sp>
      <p:sp>
        <p:nvSpPr>
          <p:cNvPr id="52" name="Rectangle 51"/>
          <p:cNvSpPr/>
          <p:nvPr/>
        </p:nvSpPr>
        <p:spPr>
          <a:xfrm>
            <a:off x="4572000" y="3749040"/>
            <a:ext cx="160020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63440" y="3840480"/>
            <a:ext cx="1463040" cy="365760"/>
          </a:xfrm>
          <a:prstGeom prst="rect">
            <a:avLst/>
          </a:prstGeom>
          <a:noFill/>
        </p:spPr>
        <p:txBody>
          <a:bodyPr wrap="square">
            <a:spAutoFit/>
          </a:bodyPr>
          <a:lstStyle/>
          <a:p>
            <a:pPr algn="l"/>
            <a:r>
              <a:rPr sz="1000" b="1" i="0">
                <a:solidFill>
                  <a:srgbClr val="059669"/>
                </a:solidFill>
              </a:rPr>
              <a:t>95%+ grounded</a:t>
            </a:r>
          </a:p>
        </p:txBody>
      </p:sp>
      <p:sp>
        <p:nvSpPr>
          <p:cNvPr id="54" name="Rectangle 53"/>
          <p:cNvSpPr/>
          <p:nvPr/>
        </p:nvSpPr>
        <p:spPr>
          <a:xfrm>
            <a:off x="6263640" y="3749040"/>
            <a:ext cx="2697480" cy="4572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5080" y="3840480"/>
            <a:ext cx="2560320" cy="365760"/>
          </a:xfrm>
          <a:prstGeom prst="rect">
            <a:avLst/>
          </a:prstGeom>
          <a:noFill/>
        </p:spPr>
        <p:txBody>
          <a:bodyPr wrap="square">
            <a:spAutoFit/>
          </a:bodyPr>
          <a:lstStyle/>
          <a:p>
            <a:pPr algn="l"/>
            <a:r>
              <a:rPr sz="1000" b="0" i="0">
                <a:solidFill>
                  <a:srgbClr val="111827"/>
                </a:solidFill>
              </a:rPr>
              <a:t>Medical Affairs audit</a:t>
            </a:r>
          </a:p>
        </p:txBody>
      </p:sp>
      <p:sp>
        <p:nvSpPr>
          <p:cNvPr id="56" name="TextBox 55"/>
          <p:cNvSpPr txBox="1"/>
          <p:nvPr/>
        </p:nvSpPr>
        <p:spPr>
          <a:xfrm>
            <a:off x="274320" y="4572000"/>
            <a:ext cx="4572000" cy="274320"/>
          </a:xfrm>
          <a:prstGeom prst="rect">
            <a:avLst/>
          </a:prstGeom>
          <a:noFill/>
        </p:spPr>
        <p:txBody>
          <a:bodyPr wrap="square">
            <a:spAutoFit/>
          </a:bodyPr>
          <a:lstStyle/>
          <a:p>
            <a:pPr algn="l"/>
            <a:r>
              <a:rPr sz="900" b="1" i="0">
                <a:solidFill>
                  <a:srgbClr val="6B7280"/>
                </a:solidFill>
              </a:rPr>
              <a:t>TESTING ROADMAP</a:t>
            </a:r>
          </a:p>
        </p:txBody>
      </p:sp>
      <p:sp>
        <p:nvSpPr>
          <p:cNvPr id="57" name="Rectangle 56"/>
          <p:cNvSpPr/>
          <p:nvPr/>
        </p:nvSpPr>
        <p:spPr>
          <a:xfrm>
            <a:off x="274320" y="4892040"/>
            <a:ext cx="3749039" cy="128016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4983480"/>
            <a:ext cx="1371600" cy="274320"/>
          </a:xfrm>
          <a:prstGeom prst="rect">
            <a:avLst/>
          </a:prstGeom>
          <a:noFill/>
        </p:spPr>
        <p:txBody>
          <a:bodyPr wrap="square">
            <a:spAutoFit/>
          </a:bodyPr>
          <a:lstStyle/>
          <a:p>
            <a:pPr algn="l"/>
            <a:r>
              <a:rPr sz="900" b="1" i="0">
                <a:solidFill>
                  <a:srgbClr val="1D4ED8"/>
                </a:solidFill>
              </a:rPr>
              <a:t>Week 1</a:t>
            </a:r>
          </a:p>
        </p:txBody>
      </p:sp>
      <p:sp>
        <p:nvSpPr>
          <p:cNvPr id="59" name="TextBox 58"/>
          <p:cNvSpPr txBox="1"/>
          <p:nvPr/>
        </p:nvSpPr>
        <p:spPr>
          <a:xfrm>
            <a:off x="411480" y="5257800"/>
            <a:ext cx="3474720" cy="274320"/>
          </a:xfrm>
          <a:prstGeom prst="rect">
            <a:avLst/>
          </a:prstGeom>
          <a:noFill/>
        </p:spPr>
        <p:txBody>
          <a:bodyPr wrap="square">
            <a:spAutoFit/>
          </a:bodyPr>
          <a:lstStyle/>
          <a:p>
            <a:pPr algn="l"/>
            <a:r>
              <a:rPr sz="1200" b="1" i="0">
                <a:solidFill>
                  <a:srgbClr val="111827"/>
                </a:solidFill>
              </a:rPr>
              <a:t>Desk validation</a:t>
            </a:r>
          </a:p>
        </p:txBody>
      </p:sp>
      <p:sp>
        <p:nvSpPr>
          <p:cNvPr id="60" name="TextBox 59"/>
          <p:cNvSpPr txBox="1"/>
          <p:nvPr/>
        </p:nvSpPr>
        <p:spPr>
          <a:xfrm>
            <a:off x="411480" y="5532120"/>
            <a:ext cx="3474720" cy="548640"/>
          </a:xfrm>
          <a:prstGeom prst="rect">
            <a:avLst/>
          </a:prstGeom>
          <a:noFill/>
        </p:spPr>
        <p:txBody>
          <a:bodyPr wrap="square">
            <a:spAutoFit/>
          </a:bodyPr>
          <a:lstStyle/>
          <a:p>
            <a:pPr algn="l"/>
            <a:r>
              <a:rPr sz="1000" b="0" i="0">
                <a:solidFill>
                  <a:srgbClr val="6B7280"/>
                </a:solidFill>
              </a:rPr>
              <a:t>3 senior reps review outputs. What % usable as-is?</a:t>
            </a:r>
          </a:p>
        </p:txBody>
      </p:sp>
      <p:sp>
        <p:nvSpPr>
          <p:cNvPr id="61" name="Rectangle 60"/>
          <p:cNvSpPr/>
          <p:nvPr/>
        </p:nvSpPr>
        <p:spPr>
          <a:xfrm>
            <a:off x="4206240" y="4892040"/>
            <a:ext cx="3749039" cy="128016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43400" y="4983480"/>
            <a:ext cx="1371600" cy="274320"/>
          </a:xfrm>
          <a:prstGeom prst="rect">
            <a:avLst/>
          </a:prstGeom>
          <a:noFill/>
        </p:spPr>
        <p:txBody>
          <a:bodyPr wrap="square">
            <a:spAutoFit/>
          </a:bodyPr>
          <a:lstStyle/>
          <a:p>
            <a:pPr algn="l"/>
            <a:r>
              <a:rPr sz="900" b="1" i="0">
                <a:solidFill>
                  <a:srgbClr val="1D4ED8"/>
                </a:solidFill>
              </a:rPr>
              <a:t>Weeks 2–4</a:t>
            </a:r>
          </a:p>
        </p:txBody>
      </p:sp>
      <p:sp>
        <p:nvSpPr>
          <p:cNvPr id="63" name="TextBox 62"/>
          <p:cNvSpPr txBox="1"/>
          <p:nvPr/>
        </p:nvSpPr>
        <p:spPr>
          <a:xfrm>
            <a:off x="4343400" y="5257800"/>
            <a:ext cx="3474720" cy="274320"/>
          </a:xfrm>
          <a:prstGeom prst="rect">
            <a:avLst/>
          </a:prstGeom>
          <a:noFill/>
        </p:spPr>
        <p:txBody>
          <a:bodyPr wrap="square">
            <a:spAutoFit/>
          </a:bodyPr>
          <a:lstStyle/>
          <a:p>
            <a:pPr algn="l"/>
            <a:r>
              <a:rPr sz="1200" b="1" i="0">
                <a:solidFill>
                  <a:srgbClr val="111827"/>
                </a:solidFill>
              </a:rPr>
              <a:t>Parallel pilot</a:t>
            </a:r>
          </a:p>
        </p:txBody>
      </p:sp>
      <p:sp>
        <p:nvSpPr>
          <p:cNvPr id="64" name="TextBox 63"/>
          <p:cNvSpPr txBox="1"/>
          <p:nvPr/>
        </p:nvSpPr>
        <p:spPr>
          <a:xfrm>
            <a:off x="4343400" y="5532120"/>
            <a:ext cx="3474720" cy="548640"/>
          </a:xfrm>
          <a:prstGeom prst="rect">
            <a:avLst/>
          </a:prstGeom>
          <a:noFill/>
        </p:spPr>
        <p:txBody>
          <a:bodyPr wrap="square">
            <a:spAutoFit/>
          </a:bodyPr>
          <a:lstStyle/>
          <a:p>
            <a:pPr algn="l"/>
            <a:r>
              <a:rPr sz="1000" b="0" i="0">
                <a:solidFill>
                  <a:srgbClr val="6B7280"/>
                </a:solidFill>
              </a:rPr>
              <a:t>5 reps: Copilot for half accounts, manual for other half</a:t>
            </a:r>
          </a:p>
        </p:txBody>
      </p:sp>
      <p:sp>
        <p:nvSpPr>
          <p:cNvPr id="65" name="Rectangle 64"/>
          <p:cNvSpPr/>
          <p:nvPr/>
        </p:nvSpPr>
        <p:spPr>
          <a:xfrm>
            <a:off x="8138160" y="4892040"/>
            <a:ext cx="3749039" cy="1280160"/>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75320" y="4983480"/>
            <a:ext cx="1371600" cy="274320"/>
          </a:xfrm>
          <a:prstGeom prst="rect">
            <a:avLst/>
          </a:prstGeom>
          <a:noFill/>
        </p:spPr>
        <p:txBody>
          <a:bodyPr wrap="square">
            <a:spAutoFit/>
          </a:bodyPr>
          <a:lstStyle/>
          <a:p>
            <a:pPr algn="l"/>
            <a:r>
              <a:rPr sz="900" b="1" i="0">
                <a:solidFill>
                  <a:srgbClr val="1D4ED8"/>
                </a:solidFill>
              </a:rPr>
              <a:t>Month 2+</a:t>
            </a:r>
          </a:p>
        </p:txBody>
      </p:sp>
      <p:sp>
        <p:nvSpPr>
          <p:cNvPr id="67" name="TextBox 66"/>
          <p:cNvSpPr txBox="1"/>
          <p:nvPr/>
        </p:nvSpPr>
        <p:spPr>
          <a:xfrm>
            <a:off x="8275320" y="5257800"/>
            <a:ext cx="3474720" cy="274320"/>
          </a:xfrm>
          <a:prstGeom prst="rect">
            <a:avLst/>
          </a:prstGeom>
          <a:noFill/>
        </p:spPr>
        <p:txBody>
          <a:bodyPr wrap="square">
            <a:spAutoFit/>
          </a:bodyPr>
          <a:lstStyle/>
          <a:p>
            <a:pPr algn="l"/>
            <a:r>
              <a:rPr sz="1200" b="1" i="0">
                <a:solidFill>
                  <a:srgbClr val="111827"/>
                </a:solidFill>
              </a:rPr>
              <a:t>Outcome tracking</a:t>
            </a:r>
          </a:p>
        </p:txBody>
      </p:sp>
      <p:sp>
        <p:nvSpPr>
          <p:cNvPr id="68" name="TextBox 67"/>
          <p:cNvSpPr txBox="1"/>
          <p:nvPr/>
        </p:nvSpPr>
        <p:spPr>
          <a:xfrm>
            <a:off x="8275320" y="5532120"/>
            <a:ext cx="3474720" cy="548640"/>
          </a:xfrm>
          <a:prstGeom prst="rect">
            <a:avLst/>
          </a:prstGeom>
          <a:noFill/>
        </p:spPr>
        <p:txBody>
          <a:bodyPr wrap="square">
            <a:spAutoFit/>
          </a:bodyPr>
          <a:lstStyle/>
          <a:p>
            <a:pPr algn="l"/>
            <a:r>
              <a:rPr sz="1000" b="0" i="0">
                <a:solidFill>
                  <a:srgbClr val="6B7280"/>
                </a:solidFill>
              </a:rPr>
              <a:t>Pipeline velocity: Copilot vs. non-Copilot meetings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858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20040"/>
            <a:ext cx="8229600" cy="274320"/>
          </a:xfrm>
          <a:prstGeom prst="rect">
            <a:avLst/>
          </a:prstGeom>
          <a:noFill/>
        </p:spPr>
        <p:txBody>
          <a:bodyPr wrap="square">
            <a:spAutoFit/>
          </a:bodyPr>
          <a:lstStyle/>
          <a:p>
            <a:pPr algn="l"/>
            <a:r>
              <a:rPr sz="1000" b="1" i="0">
                <a:solidFill>
                  <a:srgbClr val="93C5FD"/>
                </a:solidFill>
              </a:rPr>
              <a:t>WHY THIS MATTERS FOR TEMPUS</a:t>
            </a:r>
          </a:p>
        </p:txBody>
      </p:sp>
      <p:sp>
        <p:nvSpPr>
          <p:cNvPr id="6" name="TextBox 5"/>
          <p:cNvSpPr txBox="1"/>
          <p:nvPr/>
        </p:nvSpPr>
        <p:spPr>
          <a:xfrm>
            <a:off x="274320" y="685800"/>
            <a:ext cx="10058400" cy="731520"/>
          </a:xfrm>
          <a:prstGeom prst="rect">
            <a:avLst/>
          </a:prstGeom>
          <a:noFill/>
        </p:spPr>
        <p:txBody>
          <a:bodyPr wrap="square">
            <a:spAutoFit/>
          </a:bodyPr>
          <a:lstStyle/>
          <a:p>
            <a:pPr algn="l"/>
            <a:r>
              <a:rPr sz="3400" b="1" i="0">
                <a:solidFill>
                  <a:srgbClr val="FFFFFF"/>
                </a:solidFill>
              </a:rPr>
              <a:t>Every minute saved is a meeting earned.</a:t>
            </a:r>
          </a:p>
        </p:txBody>
      </p:sp>
      <p:sp>
        <p:nvSpPr>
          <p:cNvPr id="7" name="Rectangle 6"/>
          <p:cNvSpPr/>
          <p:nvPr/>
        </p:nvSpPr>
        <p:spPr>
          <a:xfrm>
            <a:off x="274320" y="1645920"/>
            <a:ext cx="5486400" cy="1097280"/>
          </a:xfrm>
          <a:prstGeom prst="rect">
            <a:avLst/>
          </a:prstGeom>
          <a:solidFill>
            <a:srgbClr val="1E3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37360"/>
            <a:ext cx="5120640" cy="548640"/>
          </a:xfrm>
          <a:prstGeom prst="rect">
            <a:avLst/>
          </a:prstGeom>
          <a:noFill/>
        </p:spPr>
        <p:txBody>
          <a:bodyPr wrap="square">
            <a:spAutoFit/>
          </a:bodyPr>
          <a:lstStyle/>
          <a:p>
            <a:pPr algn="l"/>
            <a:r>
              <a:rPr sz="3000" b="1" i="0">
                <a:solidFill>
                  <a:srgbClr val="1D4ED8"/>
                </a:solidFill>
              </a:rPr>
              <a:t>212,000+</a:t>
            </a:r>
          </a:p>
        </p:txBody>
      </p:sp>
      <p:sp>
        <p:nvSpPr>
          <p:cNvPr id="9" name="TextBox 8"/>
          <p:cNvSpPr txBox="1"/>
          <p:nvPr/>
        </p:nvSpPr>
        <p:spPr>
          <a:xfrm>
            <a:off x="457200" y="2286000"/>
            <a:ext cx="5120640" cy="365760"/>
          </a:xfrm>
          <a:prstGeom prst="rect">
            <a:avLst/>
          </a:prstGeom>
          <a:noFill/>
        </p:spPr>
        <p:txBody>
          <a:bodyPr wrap="square">
            <a:spAutoFit/>
          </a:bodyPr>
          <a:lstStyle/>
          <a:p>
            <a:pPr algn="l"/>
            <a:r>
              <a:rPr sz="1200" b="0" i="0">
                <a:solidFill>
                  <a:srgbClr val="BFDBFE"/>
                </a:solidFill>
              </a:rPr>
              <a:t>NGS tests in Q2 2025 alone</a:t>
            </a:r>
          </a:p>
        </p:txBody>
      </p:sp>
      <p:sp>
        <p:nvSpPr>
          <p:cNvPr id="10" name="Rectangle 9"/>
          <p:cNvSpPr/>
          <p:nvPr/>
        </p:nvSpPr>
        <p:spPr>
          <a:xfrm>
            <a:off x="6217920" y="1645920"/>
            <a:ext cx="5486400" cy="1097280"/>
          </a:xfrm>
          <a:prstGeom prst="rect">
            <a:avLst/>
          </a:prstGeom>
          <a:solidFill>
            <a:srgbClr val="1E3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5120640" cy="548640"/>
          </a:xfrm>
          <a:prstGeom prst="rect">
            <a:avLst/>
          </a:prstGeom>
          <a:noFill/>
        </p:spPr>
        <p:txBody>
          <a:bodyPr wrap="square">
            <a:spAutoFit/>
          </a:bodyPr>
          <a:lstStyle/>
          <a:p>
            <a:pPr algn="l"/>
            <a:r>
              <a:rPr sz="3000" b="1" i="0">
                <a:solidFill>
                  <a:srgbClr val="1D4ED8"/>
                </a:solidFill>
              </a:rPr>
              <a:t>26%</a:t>
            </a:r>
          </a:p>
        </p:txBody>
      </p:sp>
      <p:sp>
        <p:nvSpPr>
          <p:cNvPr id="12" name="TextBox 11"/>
          <p:cNvSpPr txBox="1"/>
          <p:nvPr/>
        </p:nvSpPr>
        <p:spPr>
          <a:xfrm>
            <a:off x="6400800" y="2286000"/>
            <a:ext cx="5120640" cy="365760"/>
          </a:xfrm>
          <a:prstGeom prst="rect">
            <a:avLst/>
          </a:prstGeom>
          <a:noFill/>
        </p:spPr>
        <p:txBody>
          <a:bodyPr wrap="square">
            <a:spAutoFit/>
          </a:bodyPr>
          <a:lstStyle/>
          <a:p>
            <a:pPr algn="l"/>
            <a:r>
              <a:rPr sz="1200" b="0" i="0">
                <a:solidFill>
                  <a:srgbClr val="BFDBFE"/>
                </a:solidFill>
              </a:rPr>
              <a:t>oncology volume growth YoY</a:t>
            </a:r>
          </a:p>
        </p:txBody>
      </p:sp>
      <p:sp>
        <p:nvSpPr>
          <p:cNvPr id="13" name="Rectangle 12"/>
          <p:cNvSpPr/>
          <p:nvPr/>
        </p:nvSpPr>
        <p:spPr>
          <a:xfrm>
            <a:off x="274320" y="3017520"/>
            <a:ext cx="5486400" cy="1097280"/>
          </a:xfrm>
          <a:prstGeom prst="rect">
            <a:avLst/>
          </a:prstGeom>
          <a:solidFill>
            <a:srgbClr val="1E3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08960"/>
            <a:ext cx="5120640" cy="548640"/>
          </a:xfrm>
          <a:prstGeom prst="rect">
            <a:avLst/>
          </a:prstGeom>
          <a:noFill/>
        </p:spPr>
        <p:txBody>
          <a:bodyPr wrap="square">
            <a:spAutoFit/>
          </a:bodyPr>
          <a:lstStyle/>
          <a:p>
            <a:pPr algn="l"/>
            <a:r>
              <a:rPr sz="3000" b="1" i="0">
                <a:solidFill>
                  <a:srgbClr val="059669"/>
                </a:solidFill>
              </a:rPr>
              <a:t>+4 meetings</a:t>
            </a:r>
          </a:p>
        </p:txBody>
      </p:sp>
      <p:sp>
        <p:nvSpPr>
          <p:cNvPr id="15" name="TextBox 14"/>
          <p:cNvSpPr txBox="1"/>
          <p:nvPr/>
        </p:nvSpPr>
        <p:spPr>
          <a:xfrm>
            <a:off x="457200" y="3657600"/>
            <a:ext cx="5120640" cy="365760"/>
          </a:xfrm>
          <a:prstGeom prst="rect">
            <a:avLst/>
          </a:prstGeom>
          <a:noFill/>
        </p:spPr>
        <p:txBody>
          <a:bodyPr wrap="square">
            <a:spAutoFit/>
          </a:bodyPr>
          <a:lstStyle/>
          <a:p>
            <a:pPr algn="l"/>
            <a:r>
              <a:rPr sz="1200" b="0" i="0">
                <a:solidFill>
                  <a:srgbClr val="BFDBFE"/>
                </a:solidFill>
              </a:rPr>
              <a:t>per rep per week if prep drops to 15 min</a:t>
            </a:r>
          </a:p>
        </p:txBody>
      </p:sp>
      <p:sp>
        <p:nvSpPr>
          <p:cNvPr id="16" name="Rectangle 15"/>
          <p:cNvSpPr/>
          <p:nvPr/>
        </p:nvSpPr>
        <p:spPr>
          <a:xfrm>
            <a:off x="6217920" y="3017520"/>
            <a:ext cx="5486400" cy="1097280"/>
          </a:xfrm>
          <a:prstGeom prst="rect">
            <a:avLst/>
          </a:prstGeom>
          <a:solidFill>
            <a:srgbClr val="1E3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108960"/>
            <a:ext cx="5120640" cy="548640"/>
          </a:xfrm>
          <a:prstGeom prst="rect">
            <a:avLst/>
          </a:prstGeom>
          <a:noFill/>
        </p:spPr>
        <p:txBody>
          <a:bodyPr wrap="square">
            <a:spAutoFit/>
          </a:bodyPr>
          <a:lstStyle/>
          <a:p>
            <a:pPr algn="l"/>
            <a:r>
              <a:rPr sz="3000" b="1" i="0">
                <a:solidFill>
                  <a:srgbClr val="059669"/>
                </a:solidFill>
              </a:rPr>
              <a:t>400</a:t>
            </a:r>
          </a:p>
        </p:txBody>
      </p:sp>
      <p:sp>
        <p:nvSpPr>
          <p:cNvPr id="18" name="TextBox 17"/>
          <p:cNvSpPr txBox="1"/>
          <p:nvPr/>
        </p:nvSpPr>
        <p:spPr>
          <a:xfrm>
            <a:off x="6400800" y="3657600"/>
            <a:ext cx="5120640" cy="365760"/>
          </a:xfrm>
          <a:prstGeom prst="rect">
            <a:avLst/>
          </a:prstGeom>
          <a:noFill/>
        </p:spPr>
        <p:txBody>
          <a:bodyPr wrap="square">
            <a:spAutoFit/>
          </a:bodyPr>
          <a:lstStyle/>
          <a:p>
            <a:pPr algn="l"/>
            <a:r>
              <a:rPr sz="1200" b="0" i="0">
                <a:solidFill>
                  <a:srgbClr val="BFDBFE"/>
                </a:solidFill>
              </a:rPr>
              <a:t>extra touchpoints/week at 100 reps</a:t>
            </a:r>
          </a:p>
        </p:txBody>
      </p:sp>
      <p:sp>
        <p:nvSpPr>
          <p:cNvPr id="19" name="Rectangle 18"/>
          <p:cNvSpPr/>
          <p:nvPr/>
        </p:nvSpPr>
        <p:spPr>
          <a:xfrm>
            <a:off x="274320" y="4663440"/>
            <a:ext cx="11612880" cy="3657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4800600"/>
            <a:ext cx="11612880" cy="411480"/>
          </a:xfrm>
          <a:prstGeom prst="rect">
            <a:avLst/>
          </a:prstGeom>
          <a:noFill/>
        </p:spPr>
        <p:txBody>
          <a:bodyPr wrap="square">
            <a:spAutoFit/>
          </a:bodyPr>
          <a:lstStyle/>
          <a:p>
            <a:pPr algn="ctr"/>
            <a:r>
              <a:rPr sz="1600" b="0" i="1">
                <a:solidFill>
                  <a:srgbClr val="FFFFFF"/>
                </a:solidFill>
              </a:rPr>
              <a:t>More meetings → more conversions → more patients getting precision medicine.</a:t>
            </a:r>
          </a:p>
        </p:txBody>
      </p:sp>
      <p:sp>
        <p:nvSpPr>
          <p:cNvPr id="21" name="TextBox 20"/>
          <p:cNvSpPr txBox="1"/>
          <p:nvPr/>
        </p:nvSpPr>
        <p:spPr>
          <a:xfrm>
            <a:off x="274320" y="5257800"/>
            <a:ext cx="11612880" cy="640080"/>
          </a:xfrm>
          <a:prstGeom prst="rect">
            <a:avLst/>
          </a:prstGeom>
          <a:noFill/>
        </p:spPr>
        <p:txBody>
          <a:bodyPr wrap="square">
            <a:spAutoFit/>
          </a:bodyPr>
          <a:lstStyle/>
          <a:p>
            <a:pPr algn="ctr"/>
            <a:r>
              <a:rPr sz="1200" b="0" i="0">
                <a:solidFill>
                  <a:srgbClr val="93C5FD"/>
                </a:solidFill>
              </a:rPr>
              <a:t>This compounds: if each of Tempus's 100+ sales reps gains 4 extra meetings/week, that's 400 additional physician touchpoints per week, at near-zero marginal cost.</a:t>
            </a:r>
          </a:p>
        </p:txBody>
      </p:sp>
      <p:sp>
        <p:nvSpPr>
          <p:cNvPr id="22" name="TextBox 21"/>
          <p:cNvSpPr txBox="1"/>
          <p:nvPr/>
        </p:nvSpPr>
        <p:spPr>
          <a:xfrm>
            <a:off x="274320" y="6217920"/>
            <a:ext cx="11612880" cy="274320"/>
          </a:xfrm>
          <a:prstGeom prst="rect">
            <a:avLst/>
          </a:prstGeom>
          <a:noFill/>
        </p:spPr>
        <p:txBody>
          <a:bodyPr wrap="square">
            <a:spAutoFit/>
          </a:bodyPr>
          <a:lstStyle/>
          <a:p>
            <a:pPr algn="ctr"/>
            <a:r>
              <a:rPr sz="900" b="0" i="0">
                <a:solidFill>
                  <a:srgbClr val="6B7280"/>
                </a:solidFill>
              </a:rPr>
              <a:t>Built by Harish Arul  ·  Tempus AI, GenAI Product Builder Case Study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